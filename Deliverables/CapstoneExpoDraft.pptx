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9" r:id="rId2"/>
  </p:sldIdLst>
  <p:sldSz cx="43891200" cy="32918400"/>
  <p:notesSz cx="7102475" cy="9388475"/>
  <p:embeddedFontLst>
    <p:embeddedFont>
      <p:font typeface="Roboto Condensed ExtraBold" panose="020B0604020202020204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4">
          <p15:clr>
            <a:srgbClr val="747775"/>
          </p15:clr>
        </p15:guide>
        <p15:guide id="2" pos="24336">
          <p15:clr>
            <a:srgbClr val="747775"/>
          </p15:clr>
        </p15:guide>
        <p15:guide id="3" pos="2462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6"/>
    <p:restoredTop sz="94627"/>
  </p:normalViewPr>
  <p:slideViewPr>
    <p:cSldViewPr snapToGrid="0">
      <p:cViewPr>
        <p:scale>
          <a:sx n="33" d="100"/>
          <a:sy n="33" d="100"/>
        </p:scale>
        <p:origin x="654" y="-456"/>
      </p:cViewPr>
      <p:guideLst>
        <p:guide orient="horz" pos="1224"/>
        <p:guide pos="24336"/>
        <p:guide pos="246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04913" y="704850"/>
            <a:ext cx="4694237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94213" rIns="94213" bIns="94213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c7d51fe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4913" y="704850"/>
            <a:ext cx="4692650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c7d51fe05_0_6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496160" y="13765440"/>
            <a:ext cx="40899000" cy="53874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1pPr>
            <a:lvl2pPr lvl="1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2pPr>
            <a:lvl3pPr lvl="2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3pPr>
            <a:lvl4pPr lvl="3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4pPr>
            <a:lvl5pPr lvl="4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5pPr>
            <a:lvl6pPr lvl="5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6pPr>
            <a:lvl7pPr lvl="6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7pPr>
            <a:lvl8pPr lvl="7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8pPr>
            <a:lvl9pPr lvl="8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408990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838200">
              <a:spcBef>
                <a:spcPts val="0"/>
              </a:spcBef>
              <a:spcAft>
                <a:spcPts val="0"/>
              </a:spcAft>
              <a:buSzPts val="9600"/>
              <a:buChar char="●"/>
              <a:defRPr sz="9600"/>
            </a:lvl1pPr>
            <a:lvl2pPr marL="914400" lvl="1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2pPr>
            <a:lvl3pPr marL="1371600" lvl="2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3pPr>
            <a:lvl4pPr marL="1828800" lvl="3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4pPr>
            <a:lvl5pPr marL="2286000" lvl="4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5pPr>
            <a:lvl6pPr marL="2743200" lvl="5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6pPr>
            <a:lvl7pPr marL="3200400" lvl="6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7pPr>
            <a:lvl8pPr marL="3657600" lvl="7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8pPr>
            <a:lvl9pPr marL="4114800" lvl="8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1pPr>
            <a:lvl2pPr lvl="1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2pPr>
            <a:lvl3pPr lvl="2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3pPr>
            <a:lvl4pPr lvl="3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4pPr>
            <a:lvl5pPr lvl="4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5pPr>
            <a:lvl6pPr lvl="5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6pPr>
            <a:lvl7pPr lvl="6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7pPr>
            <a:lvl8pPr lvl="7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8pPr>
            <a:lvl9pPr lvl="8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191994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1pPr>
            <a:lvl2pPr marL="914400" lvl="1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23195520" y="7375840"/>
            <a:ext cx="191994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1pPr>
            <a:lvl2pPr marL="914400" lvl="1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1pPr>
            <a:lvl2pPr lvl="1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2pPr>
            <a:lvl3pPr lvl="2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3pPr>
            <a:lvl4pPr lvl="3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4pPr>
            <a:lvl5pPr lvl="4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5pPr>
            <a:lvl6pPr lvl="5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6pPr>
            <a:lvl7pPr lvl="6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7pPr>
            <a:lvl8pPr lvl="7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8pPr>
            <a:lvl9pPr lvl="8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1496160" y="3555840"/>
            <a:ext cx="13478400" cy="48366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1496160" y="8893440"/>
            <a:ext cx="13478400" cy="203481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1pPr>
            <a:lvl2pPr marL="914400" lvl="1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2353200" y="2880960"/>
            <a:ext cx="30565500" cy="261810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1pPr>
            <a:lvl2pPr lvl="1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2pPr>
            <a:lvl3pPr lvl="2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3pPr>
            <a:lvl4pPr lvl="3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4pPr>
            <a:lvl5pPr lvl="4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5pPr>
            <a:lvl6pPr lvl="5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6pPr>
            <a:lvl7pPr lvl="6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7pPr>
            <a:lvl8pPr lvl="7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8pPr>
            <a:lvl9pPr lvl="8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1945600" y="-800"/>
            <a:ext cx="21945600" cy="3291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487600" tIns="487600" rIns="487600" bIns="487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1274400" y="7892320"/>
            <a:ext cx="19416900" cy="94866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1274400" y="17939680"/>
            <a:ext cx="19416900" cy="79047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23709600" y="4634080"/>
            <a:ext cx="18417600" cy="236487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marL="457200" lvl="0" indent="-838200">
              <a:spcBef>
                <a:spcPts val="0"/>
              </a:spcBef>
              <a:spcAft>
                <a:spcPts val="0"/>
              </a:spcAft>
              <a:buSzPts val="9600"/>
              <a:buChar char="●"/>
              <a:defRPr sz="9600"/>
            </a:lvl1pPr>
            <a:lvl2pPr marL="914400" lvl="1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2pPr>
            <a:lvl3pPr marL="1371600" lvl="2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3pPr>
            <a:lvl4pPr marL="1828800" lvl="3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4pPr>
            <a:lvl5pPr marL="2286000" lvl="4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5pPr>
            <a:lvl6pPr marL="2743200" lvl="5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6pPr>
            <a:lvl7pPr marL="3200400" lvl="6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7pPr>
            <a:lvl8pPr marL="3657600" lvl="7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8pPr>
            <a:lvl9pPr marL="4114800" lvl="8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1496160" y="27075680"/>
            <a:ext cx="28794300" cy="38727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1496160" y="7079200"/>
            <a:ext cx="40899000" cy="125664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1496160" y="20174240"/>
            <a:ext cx="40899000" cy="83250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838200" algn="ctr">
              <a:spcBef>
                <a:spcPts val="0"/>
              </a:spcBef>
              <a:spcAft>
                <a:spcPts val="0"/>
              </a:spcAft>
              <a:buSzPts val="9600"/>
              <a:buChar char="●"/>
              <a:defRPr sz="9600"/>
            </a:lvl1pPr>
            <a:lvl2pPr marL="914400" lvl="1" indent="-702733" algn="ctr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2pPr>
            <a:lvl3pPr marL="1371600" lvl="2" indent="-702733" algn="ctr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3pPr>
            <a:lvl4pPr marL="1828800" lvl="3" indent="-702733" algn="ctr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4pPr>
            <a:lvl5pPr marL="2286000" lvl="4" indent="-702733" algn="ctr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5pPr>
            <a:lvl6pPr marL="2743200" lvl="5" indent="-702733" algn="ctr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6pPr>
            <a:lvl7pPr marL="3200400" lvl="6" indent="-702733" algn="ctr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7pPr>
            <a:lvl8pPr marL="3657600" lvl="7" indent="-702733" algn="ctr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8pPr>
            <a:lvl9pPr marL="4114800" lvl="8" indent="-702733" algn="ctr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40899000" cy="218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838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Char char="●"/>
              <a:defRPr sz="9600">
                <a:solidFill>
                  <a:schemeClr val="dk2"/>
                </a:solidFill>
              </a:defRPr>
            </a:lvl1pPr>
            <a:lvl2pPr marL="914400" lvl="1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○"/>
              <a:defRPr sz="7466">
                <a:solidFill>
                  <a:schemeClr val="dk2"/>
                </a:solidFill>
              </a:defRPr>
            </a:lvl2pPr>
            <a:lvl3pPr marL="1371600" lvl="2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■"/>
              <a:defRPr sz="7466">
                <a:solidFill>
                  <a:schemeClr val="dk2"/>
                </a:solidFill>
              </a:defRPr>
            </a:lvl3pPr>
            <a:lvl4pPr marL="1828800" lvl="3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●"/>
              <a:defRPr sz="7466">
                <a:solidFill>
                  <a:schemeClr val="dk2"/>
                </a:solidFill>
              </a:defRPr>
            </a:lvl4pPr>
            <a:lvl5pPr marL="2286000" lvl="4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○"/>
              <a:defRPr sz="7466">
                <a:solidFill>
                  <a:schemeClr val="dk2"/>
                </a:solidFill>
              </a:defRPr>
            </a:lvl5pPr>
            <a:lvl6pPr marL="2743200" lvl="5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■"/>
              <a:defRPr sz="7466">
                <a:solidFill>
                  <a:schemeClr val="dk2"/>
                </a:solidFill>
              </a:defRPr>
            </a:lvl6pPr>
            <a:lvl7pPr marL="3200400" lvl="6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●"/>
              <a:defRPr sz="7466">
                <a:solidFill>
                  <a:schemeClr val="dk2"/>
                </a:solidFill>
              </a:defRPr>
            </a:lvl7pPr>
            <a:lvl8pPr marL="3657600" lvl="7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○"/>
              <a:defRPr sz="7466">
                <a:solidFill>
                  <a:schemeClr val="dk2"/>
                </a:solidFill>
              </a:defRPr>
            </a:lvl8pPr>
            <a:lvl9pPr marL="4114800" lvl="8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■"/>
              <a:defRPr sz="7466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 algn="r">
              <a:buNone/>
              <a:defRPr sz="5333">
                <a:solidFill>
                  <a:schemeClr val="dk2"/>
                </a:solidFill>
              </a:defRPr>
            </a:lvl1pPr>
            <a:lvl2pPr lvl="1" algn="r">
              <a:buNone/>
              <a:defRPr sz="5333">
                <a:solidFill>
                  <a:schemeClr val="dk2"/>
                </a:solidFill>
              </a:defRPr>
            </a:lvl2pPr>
            <a:lvl3pPr lvl="2" algn="r">
              <a:buNone/>
              <a:defRPr sz="5333">
                <a:solidFill>
                  <a:schemeClr val="dk2"/>
                </a:solidFill>
              </a:defRPr>
            </a:lvl3pPr>
            <a:lvl4pPr lvl="3" algn="r">
              <a:buNone/>
              <a:defRPr sz="5333">
                <a:solidFill>
                  <a:schemeClr val="dk2"/>
                </a:solidFill>
              </a:defRPr>
            </a:lvl4pPr>
            <a:lvl5pPr lvl="4" algn="r">
              <a:buNone/>
              <a:defRPr sz="5333">
                <a:solidFill>
                  <a:schemeClr val="dk2"/>
                </a:solidFill>
              </a:defRPr>
            </a:lvl5pPr>
            <a:lvl6pPr lvl="5" algn="r">
              <a:buNone/>
              <a:defRPr sz="5333">
                <a:solidFill>
                  <a:schemeClr val="dk2"/>
                </a:solidFill>
              </a:defRPr>
            </a:lvl6pPr>
            <a:lvl7pPr lvl="6" algn="r">
              <a:buNone/>
              <a:defRPr sz="5333">
                <a:solidFill>
                  <a:schemeClr val="dk2"/>
                </a:solidFill>
              </a:defRPr>
            </a:lvl7pPr>
            <a:lvl8pPr lvl="7" algn="r">
              <a:buNone/>
              <a:defRPr sz="5333">
                <a:solidFill>
                  <a:schemeClr val="dk2"/>
                </a:solidFill>
              </a:defRPr>
            </a:lvl8pPr>
            <a:lvl9pPr lvl="8" algn="r">
              <a:buNone/>
              <a:defRPr sz="5333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FE07E5-4DC1-376B-C043-2AD7F6C3F5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132712"/>
              </p:ext>
            </p:extLst>
          </p:nvPr>
        </p:nvGraphicFramePr>
        <p:xfrm>
          <a:off x="29278901" y="6455218"/>
          <a:ext cx="11593286" cy="24103439"/>
        </p:xfrm>
        <a:graphic>
          <a:graphicData uri="http://schemas.openxmlformats.org/drawingml/2006/table">
            <a:tbl>
              <a:tblPr/>
              <a:tblGrid>
                <a:gridCol w="11593286">
                  <a:extLst>
                    <a:ext uri="{9D8B030D-6E8A-4147-A177-3AD203B41FA5}">
                      <a16:colId xmlns:a16="http://schemas.microsoft.com/office/drawing/2014/main" val="2659221207"/>
                    </a:ext>
                  </a:extLst>
                </a:gridCol>
              </a:tblGrid>
              <a:tr h="24103439"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/>
                        <a:t>python3 main.py input/</a:t>
                      </a:r>
                      <a:r>
                        <a:rPr lang="en-US" sz="2800" b="1" u="none" dirty="0" err="1"/>
                        <a:t>sequences.fasta</a:t>
                      </a:r>
                      <a:r>
                        <a:rPr lang="en-US" sz="2800" b="1" u="none" dirty="0"/>
                        <a:t> "Calculate GC content for each sequence and find </a:t>
                      </a:r>
                      <a:r>
                        <a:rPr lang="en-US" sz="2800" b="1" u="none" dirty="0" err="1"/>
                        <a:t>EcoRI</a:t>
                      </a:r>
                      <a:r>
                        <a:rPr lang="en-US" sz="2800" b="1" u="none" dirty="0"/>
                        <a:t> restriction sites in sequences with GC &gt; 60%"</a:t>
                      </a:r>
                    </a:p>
                    <a:p>
                      <a:pPr algn="ctr"/>
                      <a:endParaRPr lang="en-US" sz="2800" b="1" u="none" dirty="0"/>
                    </a:p>
                    <a:p>
                      <a:pPr algn="ctr"/>
                      <a:r>
                        <a:rPr lang="en-US" sz="2800" b="1" u="none" dirty="0">
                          <a:solidFill>
                            <a:schemeClr val="accent1"/>
                          </a:solidFill>
                        </a:rPr>
                        <a:t>==================================================</a:t>
                      </a:r>
                    </a:p>
                    <a:p>
                      <a:pPr algn="ctr"/>
                      <a:r>
                        <a:rPr lang="en-US" sz="2800" b="1" u="none" dirty="0">
                          <a:solidFill>
                            <a:schemeClr val="accent1"/>
                          </a:solidFill>
                        </a:rPr>
                        <a:t>  </a:t>
                      </a:r>
                      <a:r>
                        <a:rPr lang="en-US" sz="2800" b="1" u="none" dirty="0" err="1">
                          <a:solidFill>
                            <a:schemeClr val="accent1"/>
                          </a:solidFill>
                        </a:rPr>
                        <a:t>BioAgent</a:t>
                      </a:r>
                      <a:r>
                        <a:rPr lang="en-US" sz="2800" b="1" u="none" dirty="0">
                          <a:solidFill>
                            <a:schemeClr val="accent1"/>
                          </a:solidFill>
                        </a:rPr>
                        <a:t> - Multi-Agent LLM Analysis System</a:t>
                      </a:r>
                    </a:p>
                    <a:p>
                      <a:pPr algn="ctr"/>
                      <a:r>
                        <a:rPr lang="en-US" sz="2800" b="1" u="none" dirty="0">
                          <a:solidFill>
                            <a:schemeClr val="accent1"/>
                          </a:solidFill>
                        </a:rPr>
                        <a:t>==================================================</a:t>
                      </a:r>
                    </a:p>
                    <a:p>
                      <a:pPr algn="ctr"/>
                      <a:endParaRPr lang="en-US" sz="2800" b="1" u="none" dirty="0"/>
                    </a:p>
                    <a:p>
                      <a:pPr algn="ctr"/>
                      <a:r>
                        <a:rPr lang="en-US" sz="2800" b="1" u="none" dirty="0"/>
                        <a:t>Loading checkpoint shards: 100%|██████████████████████| 5/5 [00:04&lt;00:00,  1.02it/s]</a:t>
                      </a:r>
                    </a:p>
                    <a:p>
                      <a:pPr algn="ctr"/>
                      <a:endParaRPr lang="en-US" sz="2800" b="1" u="none" dirty="0"/>
                    </a:p>
                    <a:p>
                      <a:pPr algn="ctr"/>
                      <a:r>
                        <a:rPr lang="en-US" sz="2800" b="1" u="none" dirty="0"/>
                        <a:t>Query: Calculate GC content for each sequence and find </a:t>
                      </a:r>
                      <a:r>
                        <a:rPr lang="en-US" sz="2800" b="1" u="none" dirty="0" err="1"/>
                        <a:t>EcoRI</a:t>
                      </a:r>
                      <a:r>
                        <a:rPr lang="en-US" sz="2800" b="1" u="none" dirty="0"/>
                        <a:t> restriction sites in sequences with GC &gt; 60%</a:t>
                      </a:r>
                    </a:p>
                    <a:p>
                      <a:pPr algn="ctr"/>
                      <a:r>
                        <a:rPr lang="en-US" sz="2800" b="1" u="none" dirty="0"/>
                        <a:t>  </a:t>
                      </a:r>
                      <a:r>
                        <a:rPr lang="en-US" sz="2800" b="1" u="none" dirty="0">
                          <a:solidFill>
                            <a:srgbClr val="00B050"/>
                          </a:solidFill>
                        </a:rPr>
                        <a:t>✔</a:t>
                      </a:r>
                      <a:r>
                        <a:rPr lang="en-US" sz="2800" b="1" u="none" dirty="0"/>
                        <a:t> Blueprint generated (23s)                                </a:t>
                      </a:r>
                    </a:p>
                    <a:p>
                      <a:pPr algn="ctr"/>
                      <a:r>
                        <a:rPr lang="en-US" sz="2800" b="1" u="none" dirty="0"/>
                        <a:t>  </a:t>
                      </a:r>
                      <a:r>
                        <a:rPr lang="en-US" sz="2800" b="1" u="none" dirty="0">
                          <a:solidFill>
                            <a:srgbClr val="00B050"/>
                          </a:solidFill>
                        </a:rPr>
                        <a:t>✔</a:t>
                      </a:r>
                      <a:r>
                        <a:rPr lang="en-US" sz="2800" b="1" u="none" dirty="0"/>
                        <a:t> Code generated (16s)                                    </a:t>
                      </a:r>
                    </a:p>
                    <a:p>
                      <a:pPr algn="ctr"/>
                      <a:r>
                        <a:rPr lang="en-US" sz="2800" b="1" u="none" dirty="0"/>
                        <a:t>  </a:t>
                      </a:r>
                      <a:r>
                        <a:rPr lang="en-US" sz="2800" b="1" u="none" dirty="0">
                          <a:solidFill>
                            <a:srgbClr val="00B050"/>
                          </a:solidFill>
                        </a:rPr>
                        <a:t>✔</a:t>
                      </a:r>
                      <a:r>
                        <a:rPr lang="en-US" sz="2800" b="1" u="none" dirty="0"/>
                        <a:t> Attempt 1 failed (6s)                                   </a:t>
                      </a:r>
                    </a:p>
                    <a:p>
                      <a:pPr algn="ctr"/>
                      <a:endParaRPr lang="en-US" sz="2800" b="1" u="none" dirty="0"/>
                    </a:p>
                    <a:p>
                      <a:pPr algn="ctr"/>
                      <a:r>
                        <a:rPr lang="en-US" sz="2800" b="1" u="none" dirty="0">
                          <a:solidFill>
                            <a:srgbClr val="FF0000"/>
                          </a:solidFill>
                        </a:rPr>
                        <a:t>Attempt 1 failed — asking AI to fix the code...</a:t>
                      </a:r>
                    </a:p>
                    <a:p>
                      <a:pPr algn="ctr"/>
                      <a:r>
                        <a:rPr lang="en-US" sz="2800" b="1" u="none" dirty="0"/>
                        <a:t>  </a:t>
                      </a:r>
                      <a:r>
                        <a:rPr lang="en-US" sz="2800" b="1" u="none" dirty="0">
                          <a:solidFill>
                            <a:srgbClr val="00B050"/>
                          </a:solidFill>
                        </a:rPr>
                        <a:t>✔</a:t>
                      </a:r>
                      <a:r>
                        <a:rPr lang="en-US" sz="2800" b="1" u="none" dirty="0"/>
                        <a:t> Revised code generated (21s)                            </a:t>
                      </a:r>
                    </a:p>
                    <a:p>
                      <a:pPr algn="ctr"/>
                      <a:r>
                        <a:rPr lang="en-US" sz="2800" b="1" u="none" dirty="0"/>
                        <a:t>  </a:t>
                      </a:r>
                      <a:r>
                        <a:rPr lang="en-US" sz="2800" b="1" u="none" dirty="0">
                          <a:solidFill>
                            <a:srgbClr val="00B050"/>
                          </a:solidFill>
                        </a:rPr>
                        <a:t>✔</a:t>
                      </a:r>
                      <a:r>
                        <a:rPr lang="en-US" sz="2800" b="1" u="none" dirty="0"/>
                        <a:t> Execution succeeded (6s)                                </a:t>
                      </a:r>
                    </a:p>
                    <a:p>
                      <a:pPr algn="ctr"/>
                      <a:endParaRPr lang="en-US" sz="2800" b="1" u="none" dirty="0"/>
                    </a:p>
                    <a:p>
                      <a:pPr algn="ctr"/>
                      <a:r>
                        <a:rPr lang="en-US" sz="2800" b="1" u="none" dirty="0">
                          <a:solidFill>
                            <a:schemeClr val="accent1"/>
                          </a:solidFill>
                        </a:rPr>
                        <a:t>==================================================</a:t>
                      </a:r>
                    </a:p>
                    <a:p>
                      <a:pPr algn="ctr"/>
                      <a:r>
                        <a:rPr lang="en-US" sz="2800" b="1" u="none" dirty="0">
                          <a:solidFill>
                            <a:schemeClr val="accent1"/>
                          </a:solidFill>
                        </a:rPr>
                        <a:t>  RESULTS</a:t>
                      </a:r>
                    </a:p>
                    <a:p>
                      <a:pPr algn="ctr"/>
                      <a:r>
                        <a:rPr lang="en-US" sz="2800" b="1" u="none" dirty="0">
                          <a:solidFill>
                            <a:schemeClr val="accent1"/>
                          </a:solidFill>
                        </a:rPr>
                        <a:t>==================================================</a:t>
                      </a:r>
                    </a:p>
                    <a:p>
                      <a:pPr algn="ctr"/>
                      <a:r>
                        <a:rPr lang="en-US" sz="2800" b="1" u="none" dirty="0">
                          <a:solidFill>
                            <a:srgbClr val="00B050"/>
                          </a:solidFill>
                        </a:rPr>
                        <a:t>Generated script saved to: output/solution.py</a:t>
                      </a:r>
                    </a:p>
                    <a:p>
                      <a:pPr algn="ctr"/>
                      <a:endParaRPr lang="en-US" sz="2800" b="1" u="none" dirty="0"/>
                    </a:p>
                    <a:p>
                      <a:pPr algn="ctr"/>
                      <a:r>
                        <a:rPr lang="en-US" sz="2800" b="1" u="none" dirty="0">
                          <a:solidFill>
                            <a:schemeClr val="accent1"/>
                          </a:solidFill>
                        </a:rPr>
                        <a:t>--- Solution Output ---</a:t>
                      </a:r>
                    </a:p>
                    <a:p>
                      <a:pPr algn="ctr"/>
                      <a:r>
                        <a:rPr lang="en-US" sz="2800" b="1" u="none" dirty="0"/>
                        <a:t>ID: seq1, GC content: 52.17391304347826%</a:t>
                      </a:r>
                    </a:p>
                    <a:p>
                      <a:pPr algn="ctr"/>
                      <a:r>
                        <a:rPr lang="en-US" sz="2800" b="1" u="none" dirty="0"/>
                        <a:t>ID: seq2, GC content: 6.25%</a:t>
                      </a:r>
                    </a:p>
                    <a:p>
                      <a:pPr algn="ctr"/>
                      <a:r>
                        <a:rPr lang="en-US" sz="2800" b="1" u="none" dirty="0"/>
                        <a:t>ID: seq3, GC content: 87.5%</a:t>
                      </a:r>
                    </a:p>
                    <a:p>
                      <a:pPr algn="ctr"/>
                      <a:r>
                        <a:rPr lang="en-US" sz="2800" b="1" u="none" dirty="0"/>
                        <a:t>ID: seq4, GC content: 6.666666666666667%</a:t>
                      </a:r>
                    </a:p>
                    <a:p>
                      <a:pPr algn="ctr"/>
                      <a:r>
                        <a:rPr lang="en-US" sz="2800" b="1" u="none" dirty="0"/>
                        <a:t>Full logs saved to: output/output.log</a:t>
                      </a:r>
                      <a:endParaRPr lang="en-US" sz="2800" u="none" dirty="0">
                        <a:effectLst/>
                      </a:endParaRPr>
                    </a:p>
                  </a:txBody>
                  <a:tcPr marL="63500" marR="63500" marT="63500" marB="635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8245067"/>
                  </a:ext>
                </a:extLst>
              </a:tr>
            </a:tbl>
          </a:graphicData>
        </a:graphic>
      </p:graphicFrame>
      <p:sp>
        <p:nvSpPr>
          <p:cNvPr id="71" name="Google Shape;71;p16"/>
          <p:cNvSpPr txBox="1"/>
          <p:nvPr/>
        </p:nvSpPr>
        <p:spPr>
          <a:xfrm>
            <a:off x="39090592" y="884691"/>
            <a:ext cx="4806600" cy="1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80000"/>
              </a:lnSpc>
              <a:buSzPts val="688"/>
            </a:pPr>
            <a:r>
              <a:rPr lang="en" sz="10000" dirty="0">
                <a:solidFill>
                  <a:schemeClr val="lt1"/>
                </a:solidFill>
                <a:latin typeface="Roboto Condensed ExtraBold"/>
                <a:ea typeface="Roboto Condensed ExtraBold"/>
                <a:cs typeface="Roboto Condensed ExtraBold"/>
              </a:rPr>
              <a:t>26-335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endParaRPr lang="en" sz="10000" dirty="0">
              <a:solidFill>
                <a:schemeClr val="lt1"/>
              </a:solidFill>
              <a:latin typeface="Roboto Condensed ExtraBold"/>
              <a:ea typeface="Roboto Condensed ExtraBold"/>
              <a:cs typeface="Roboto Condensed ExtraBold"/>
            </a:endParaRPr>
          </a:p>
        </p:txBody>
      </p:sp>
      <p:sp>
        <p:nvSpPr>
          <p:cNvPr id="3" name="Google Shape;24;g11a88963fa4_0_0">
            <a:extLst>
              <a:ext uri="{FF2B5EF4-FFF2-40B4-BE49-F238E27FC236}">
                <a16:creationId xmlns:a16="http://schemas.microsoft.com/office/drawing/2014/main" id="{C941C77A-29DC-44D1-B3E6-934B3EF22311}"/>
              </a:ext>
            </a:extLst>
          </p:cNvPr>
          <p:cNvSpPr txBox="1"/>
          <p:nvPr/>
        </p:nvSpPr>
        <p:spPr>
          <a:xfrm>
            <a:off x="957945" y="3409407"/>
            <a:ext cx="43107427" cy="2523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lang="en-US" sz="1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Agents for Bioinformatics</a:t>
            </a:r>
            <a:endParaRPr sz="2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SzPts val="3600"/>
            </a:pPr>
            <a:r>
              <a:rPr lang="en-US" sz="3600" b="1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Team members: </a:t>
            </a:r>
            <a:r>
              <a:rPr lang="en-US" sz="360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Carter Struck, </a:t>
            </a:r>
            <a:r>
              <a:rPr lang="en-US" sz="3600" i="0" u="none" strike="noStrike" cap="none" dirty="0" err="1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Ozi</a:t>
            </a:r>
            <a:r>
              <a:rPr lang="en-US" sz="360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 Jawad, Mack Hicks, Sona James</a:t>
            </a:r>
            <a:r>
              <a:rPr lang="en-US" sz="3600" b="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  |  </a:t>
            </a:r>
            <a:r>
              <a:rPr lang="en-US" sz="3600" b="1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Faculty adviser: </a:t>
            </a:r>
            <a:r>
              <a:rPr lang="en-US" sz="3600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Tomasz </a:t>
            </a:r>
            <a:r>
              <a:rPr lang="en-US" sz="3600" dirty="0" err="1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Arodz</a:t>
            </a:r>
            <a:r>
              <a:rPr lang="en-US" sz="3600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, Ph.D.</a:t>
            </a:r>
            <a:r>
              <a:rPr lang="en-US" sz="3600" b="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  |  </a:t>
            </a:r>
            <a:r>
              <a:rPr lang="en-US" sz="3600" b="1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Partner: </a:t>
            </a:r>
            <a:r>
              <a:rPr lang="en-US" sz="3600" b="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VCU College of Engineering  |  </a:t>
            </a:r>
            <a:r>
              <a:rPr lang="en-US" sz="3600" b="1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Mentor: </a:t>
            </a:r>
            <a:r>
              <a:rPr lang="en-US" sz="360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Tomasz </a:t>
            </a:r>
            <a:r>
              <a:rPr lang="en-US" sz="3600" i="0" u="none" strike="noStrike" cap="none" dirty="0" err="1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Arodz</a:t>
            </a:r>
            <a:r>
              <a:rPr lang="en-US" sz="360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600" i="0" u="none" strike="noStrike" cap="none" dirty="0" err="1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Ph.D</a:t>
            </a:r>
            <a:r>
              <a:rPr lang="en-US" sz="4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4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C56511-4C4D-531B-5BF2-6B0E17F4A68B}"/>
              </a:ext>
            </a:extLst>
          </p:cNvPr>
          <p:cNvSpPr txBox="1"/>
          <p:nvPr/>
        </p:nvSpPr>
        <p:spPr>
          <a:xfrm>
            <a:off x="1487777" y="6511745"/>
            <a:ext cx="11429568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Objective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Develop a functional multi-agent AI system using open-source large language models (LLMs) capable of processing, coding, and interpreting genomic datasets.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Design and implement an AI-based tool that can automatically generate and execute Python code for bioinformatic tasks.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Deliver accurate and reliable solutions generated by the AI system.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Reduce time required to process and interpret data by 50% compared to traditional bioinformatic workflows.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FFED9C-0D6A-AF0D-00C8-0F6D0489D213}"/>
              </a:ext>
            </a:extLst>
          </p:cNvPr>
          <p:cNvSpPr txBox="1"/>
          <p:nvPr/>
        </p:nvSpPr>
        <p:spPr>
          <a:xfrm>
            <a:off x="1487777" y="14569326"/>
            <a:ext cx="11429568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Problem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Bioinformatic tasks dealing with large datasets are complex and required domain knowledge.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The goal of the agent is to simplify this process for non-bioinformaticians working on genomic datasets that often require a bioinformatician to decipher.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To solve this problem, we propose a multi-agent AI system capable of reading genomic data, analyzing it, and producing useful and understandable insights.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0D06EC-5F06-CF91-5ECD-58426E66E0C1}"/>
              </a:ext>
            </a:extLst>
          </p:cNvPr>
          <p:cNvSpPr txBox="1"/>
          <p:nvPr/>
        </p:nvSpPr>
        <p:spPr>
          <a:xfrm>
            <a:off x="15659512" y="6709920"/>
            <a:ext cx="11136086" cy="58169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800" b="1" dirty="0"/>
              <a:t>Design Constraints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Model must run on NVDIA A100 GPU 40GB.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LLMs parameter sizes limited to 20 Billion.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Open Source, trustworthy LLMs only.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Reasonable completion speed for output.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Agents must debug and produce runnable python code.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Agents must be able to write code to process typical file formats for bioinformatics (FASTA, FASTQ, VCF).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E59F9B-BB0D-15FA-4B88-666400FC6A86}"/>
              </a:ext>
            </a:extLst>
          </p:cNvPr>
          <p:cNvSpPr txBox="1"/>
          <p:nvPr/>
        </p:nvSpPr>
        <p:spPr>
          <a:xfrm>
            <a:off x="15796888" y="14155798"/>
            <a:ext cx="11593286" cy="62478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800" b="1" dirty="0"/>
              <a:t>Design Choices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One LLM was chosen for both writing and coding agents for current prototyping simplicity.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We chose the LLM, </a:t>
            </a:r>
            <a:r>
              <a:rPr lang="en-US" sz="3600" dirty="0" err="1"/>
              <a:t>StarCoder</a:t>
            </a:r>
            <a:r>
              <a:rPr lang="en-US" sz="3600" dirty="0"/>
              <a:t>, because it is a coding focused model with adequate writing abilities.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Current LLM instructions were written to focus primarily on Python code.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The models will write Python code because of the vast amounts of data processing libraries and capabilities to easily work with users input.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330BC0-5C86-85AA-C788-048DE4BC8754}"/>
              </a:ext>
            </a:extLst>
          </p:cNvPr>
          <p:cNvSpPr txBox="1"/>
          <p:nvPr/>
        </p:nvSpPr>
        <p:spPr>
          <a:xfrm>
            <a:off x="13570477" y="20986123"/>
            <a:ext cx="5467676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 dirty="0"/>
              <a:t>Final Design</a:t>
            </a:r>
            <a:endParaRPr lang="en-US" dirty="0"/>
          </a:p>
          <a:p>
            <a:pPr algn="ctr"/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CC6CBB6-6BF4-916B-E98F-B1C3139315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958" y="20982273"/>
            <a:ext cx="22677860" cy="91035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505</Words>
  <Application>Microsoft Office PowerPoint</Application>
  <PresentationFormat>Custom</PresentationFormat>
  <Paragraphs>54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Roboto Condensed ExtraBold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use this slide deck template</dc:title>
  <dc:creator>Bradley Nichols</dc:creator>
  <cp:lastModifiedBy>Carter Struck</cp:lastModifiedBy>
  <cp:revision>144</cp:revision>
  <dcterms:modified xsi:type="dcterms:W3CDTF">2026-03-26T23:01:02Z</dcterms:modified>
</cp:coreProperties>
</file>