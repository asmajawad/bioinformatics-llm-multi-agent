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9" r:id="rId2"/>
  </p:sldIdLst>
  <p:sldSz cx="43891200" cy="32918400"/>
  <p:notesSz cx="7102475" cy="9388475"/>
  <p:embeddedFontLst>
    <p:embeddedFont>
      <p:font typeface="Consolas" panose="020B0609020204030204" pitchFamily="49" charset="0"/>
      <p:regular r:id="rId4"/>
      <p:bold r:id="rId5"/>
      <p:italic r:id="rId6"/>
      <p:boldItalic r:id="rId7"/>
    </p:embeddedFont>
    <p:embeddedFont>
      <p:font typeface="Roboto Condensed ExtraBold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41530-867F-3DF8-F63F-EC4F0E1FBCFF}" v="1519" dt="2025-11-14T23:10:21.454"/>
    <p1510:client id="{B6CE303D-6B7C-4806-AE57-4B232086ED5A}" v="6" dt="2025-11-13T17:45:35.215"/>
    <p1510:client id="{C4815F6D-1D4B-4F27-9EE3-D2A37B638CF1}" v="77" dt="2025-11-13T17:42:49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6"/>
    <p:restoredTop sz="94627"/>
  </p:normalViewPr>
  <p:slideViewPr>
    <p:cSldViewPr snapToGrid="0">
      <p:cViewPr>
        <p:scale>
          <a:sx n="27" d="100"/>
          <a:sy n="27" d="100"/>
        </p:scale>
        <p:origin x="1624" y="144"/>
      </p:cViewPr>
      <p:guideLst>
        <p:guide orient="horz" pos="1224"/>
        <p:guide pos="24336"/>
        <p:guide pos="24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42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7d51f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7d51fe05_0_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FE07E5-4DC1-376B-C043-2AD7F6C3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635264"/>
              </p:ext>
            </p:extLst>
          </p:nvPr>
        </p:nvGraphicFramePr>
        <p:xfrm>
          <a:off x="15366030" y="6510911"/>
          <a:ext cx="11429568" cy="14239240"/>
        </p:xfrm>
        <a:graphic>
          <a:graphicData uri="http://schemas.openxmlformats.org/drawingml/2006/table">
            <a:tbl>
              <a:tblPr/>
              <a:tblGrid>
                <a:gridCol w="11429568">
                  <a:extLst>
                    <a:ext uri="{9D8B030D-6E8A-4147-A177-3AD203B41FA5}">
                      <a16:colId xmlns:a16="http://schemas.microsoft.com/office/drawing/2014/main" val="2659221207"/>
                    </a:ext>
                  </a:extLst>
                </a:gridCol>
              </a:tblGrid>
              <a:tr h="13449836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sng" dirty="0"/>
                        <a:t>Example Input and Output</a:t>
                      </a:r>
                    </a:p>
                    <a:p>
                      <a:pPr algn="l"/>
                      <a:r>
                        <a:rPr lang="en-US" sz="2800" dirty="0"/>
                        <a:t>Input Prompt: </a:t>
                      </a:r>
                      <a:r>
                        <a:rPr lang="en-US" sz="2800" b="1" dirty="0"/>
                        <a:t>Write a Python function that calculates the GC content given a DNA sequence.</a:t>
                      </a:r>
                    </a:p>
                    <a:p>
                      <a:pPr algn="l"/>
                      <a:endParaRPr lang="en-US" sz="2800" b="1" dirty="0"/>
                    </a:p>
                    <a:p>
                      <a:pPr algn="l"/>
                      <a:r>
                        <a:rPr lang="en-US" sz="2800" b="0" dirty="0"/>
                        <a:t>Produced Output:</a:t>
                      </a:r>
                    </a:p>
                    <a:p>
                      <a:pPr rtl="0" fontAlgn="t">
                        <a:buNone/>
                      </a:pPr>
                      <a:endParaRPr lang="en-US" sz="1100" b="1" i="0" u="none" strike="noStrike" dirty="0">
                        <a:solidFill>
                          <a:srgbClr val="00193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(seq):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"""</a:t>
                      </a:r>
                      <a:b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    A function that calculates the GC content given a DNA sequence.</a:t>
                      </a:r>
                      <a:b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    """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START_OF_FUNCTION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count = 0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seq: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"G"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"C"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count += 1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count /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(seq) * 100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End the function after implementation with marker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END_OF_FUNCTION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Example DNA sequences to test the 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dna1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"ATGCGC"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dna2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"ATATAT"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dna3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"GGCCGGCC"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Test the 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{dna1}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(dna1):.2f}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{dna2}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(dna2):.2f}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{dna3}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(dna3):.2f}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endParaRPr lang="en-US" sz="1100" b="0" i="0" u="none" strike="noStrike" dirty="0">
                        <a:solidFill>
                          <a:srgbClr val="00193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800" dirty="0"/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/>
                        <a:t>OUTPUT: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/>
                        <a:t>GC content of ATGCGC: 66.67%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GC content of ATATAT: 0.00%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GC content of GGCCGGCC: 100.00%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45067"/>
                  </a:ext>
                </a:extLst>
              </a:tr>
            </a:tbl>
          </a:graphicData>
        </a:graphic>
      </p:graphicFrame>
      <p:sp>
        <p:nvSpPr>
          <p:cNvPr id="71" name="Google Shape;71;p16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0000"/>
              </a:lnSpc>
              <a:buSzPts val="688"/>
            </a:pPr>
            <a:r>
              <a:rPr lang="en" sz="10000" dirty="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</a:rPr>
              <a:t>26-335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lang="en" sz="10000" dirty="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C941C77A-29DC-44D1-B3E6-934B3EF22311}"/>
              </a:ext>
            </a:extLst>
          </p:cNvPr>
          <p:cNvSpPr txBox="1"/>
          <p:nvPr/>
        </p:nvSpPr>
        <p:spPr>
          <a:xfrm>
            <a:off x="957945" y="3409407"/>
            <a:ext cx="43107427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Agents for Bioinformatics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Ozi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Jawad, Carter Struck, Mack Hicks, Sona James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Ph.D.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VCU College of Engineering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Mentor: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Ph.D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56511-4C4D-531B-5BF2-6B0E17F4A68B}"/>
              </a:ext>
            </a:extLst>
          </p:cNvPr>
          <p:cNvSpPr txBox="1"/>
          <p:nvPr/>
        </p:nvSpPr>
        <p:spPr>
          <a:xfrm>
            <a:off x="1487777" y="6511745"/>
            <a:ext cx="1142956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Objective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a functional multi-agent AI system using open-source large language models (LLMs) capable of processing, coding, and interpreting genomic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Design and implement an AI-based tool that can automatically generate and execute Python code for bioinformatic tasks.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Deliver accurate and reliable solutions generated by the AI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 time required to process and interpret data by 50% compared to traditional bioinformatic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FED9C-0D6A-AF0D-00C8-0F6D0489D213}"/>
              </a:ext>
            </a:extLst>
          </p:cNvPr>
          <p:cNvSpPr txBox="1"/>
          <p:nvPr/>
        </p:nvSpPr>
        <p:spPr>
          <a:xfrm>
            <a:off x="1487777" y="15320319"/>
            <a:ext cx="114295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Problem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Bioinformatic </a:t>
            </a:r>
            <a:r>
              <a:rPr lang="en-US" sz="3600" dirty="0"/>
              <a:t>tasks dealing with large datasets are complex and required domain knowledge.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goal of the agent is to simplify this process for non-bioinformaticians working on genomic datasets that often require a bioinformatician to decipher.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 solve this problem, we propose a multi-agent AI system capable of reading genomic data, analyzing it, and producing useful and understandable insights.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06EC-5F06-CF91-5ECD-58426E66E0C1}"/>
              </a:ext>
            </a:extLst>
          </p:cNvPr>
          <p:cNvSpPr txBox="1"/>
          <p:nvPr/>
        </p:nvSpPr>
        <p:spPr>
          <a:xfrm>
            <a:off x="29411261" y="6507535"/>
            <a:ext cx="11136086" cy="58169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dirty="0"/>
              <a:t>Design Constraints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must run on NVDIA A100 GPU 40GB.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LLMs parameter sizes limited to 20 Billion.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Open Source, trustworthy LLMs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Reasonable completion speed for output.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debug and produce runnable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be able to write code to process typical file formats for bioinformatics (FASTA, FASTQ, VCF).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59F9B-BB0D-15FA-4B88-666400FC6A86}"/>
              </a:ext>
            </a:extLst>
          </p:cNvPr>
          <p:cNvSpPr txBox="1"/>
          <p:nvPr/>
        </p:nvSpPr>
        <p:spPr>
          <a:xfrm>
            <a:off x="29411260" y="13972523"/>
            <a:ext cx="11593286" cy="624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dirty="0"/>
              <a:t>Design Choices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 LLM was chosen for both writing and coding agents for current prototyping simplicity.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We chose the LLM, </a:t>
            </a:r>
            <a:r>
              <a:rPr lang="en-US" sz="3600" dirty="0" err="1"/>
              <a:t>StarCoder</a:t>
            </a:r>
            <a:r>
              <a:rPr lang="en-US" sz="3600" dirty="0"/>
              <a:t>, because it is a coding focused model with adequate writing abilities.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Current LLM instructions were written to focus primarily on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models will write Python code because of the vast amounts of data processing libraries and capabilities to easily work with users input.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330BC0-5C86-85AA-C788-048DE4BC8754}"/>
              </a:ext>
            </a:extLst>
          </p:cNvPr>
          <p:cNvSpPr txBox="1"/>
          <p:nvPr/>
        </p:nvSpPr>
        <p:spPr>
          <a:xfrm>
            <a:off x="30559060" y="21851976"/>
            <a:ext cx="54676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/>
              <a:t>Final Design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FB1CA-E567-B7EB-856D-16E3CAFC7F98}"/>
              </a:ext>
            </a:extLst>
          </p:cNvPr>
          <p:cNvSpPr txBox="1"/>
          <p:nvPr/>
        </p:nvSpPr>
        <p:spPr>
          <a:xfrm>
            <a:off x="7864463" y="21851976"/>
            <a:ext cx="54676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/>
              <a:t>Current Prototype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6BF65B-4F0F-B606-7703-CB284326C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6888" y="22903347"/>
            <a:ext cx="19147890" cy="700563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8300BF-DF68-8118-9A7A-97F9A1C56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709" y="22896573"/>
            <a:ext cx="19321916" cy="482095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643</Words>
  <Application>Microsoft Office PowerPoint</Application>
  <PresentationFormat>Custom</PresentationFormat>
  <Paragraphs>44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Sona James</cp:lastModifiedBy>
  <cp:revision>140</cp:revision>
  <dcterms:modified xsi:type="dcterms:W3CDTF">2025-11-14T23:10:30Z</dcterms:modified>
</cp:coreProperties>
</file>