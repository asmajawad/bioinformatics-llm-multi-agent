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9" r:id="rId2"/>
  </p:sldIdLst>
  <p:sldSz cx="43891200" cy="32918400"/>
  <p:notesSz cx="7102475" cy="9388475"/>
  <p:embeddedFontLst>
    <p:embeddedFont>
      <p:font typeface="Roboto Condensed ExtraBold" panose="02000000000000000000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747775"/>
          </p15:clr>
        </p15:guide>
        <p15:guide id="2" pos="24336">
          <p15:clr>
            <a:srgbClr val="747775"/>
          </p15:clr>
        </p15:guide>
        <p15:guide id="3" pos="246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26"/>
    <p:restoredTop sz="94612"/>
  </p:normalViewPr>
  <p:slideViewPr>
    <p:cSldViewPr snapToGrid="0">
      <p:cViewPr>
        <p:scale>
          <a:sx n="44" d="100"/>
          <a:sy n="44" d="100"/>
        </p:scale>
        <p:origin x="2328" y="216"/>
      </p:cViewPr>
      <p:guideLst>
        <p:guide orient="horz" pos="1224"/>
        <p:guide pos="24336"/>
        <p:guide pos="24624"/>
      </p:guideLst>
    </p:cSldViewPr>
  </p:slideViewPr>
  <p:notesTextViewPr>
    <p:cViewPr>
      <p:scale>
        <a:sx n="40" d="100"/>
        <a:sy n="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42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7d51fe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7d51fe05_0_6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2pPr>
            <a:lvl3pPr marL="1371600" lvl="2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3pPr>
            <a:lvl4pPr marL="1828800" lvl="3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4pPr>
            <a:lvl5pPr marL="2286000" lvl="4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5pPr>
            <a:lvl6pPr marL="2743200" lvl="5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6pPr>
            <a:lvl7pPr marL="3200400" lvl="6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7pPr>
            <a:lvl8pPr marL="3657600" lvl="7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8pPr>
            <a:lvl9pPr marL="4114800" lvl="8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CC6CBB6-6BF4-916B-E98F-B1C313931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958" y="20982273"/>
            <a:ext cx="22677860" cy="910350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FE07E5-4DC1-376B-C043-2AD7F6C3F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571011"/>
              </p:ext>
            </p:extLst>
          </p:nvPr>
        </p:nvGraphicFramePr>
        <p:xfrm>
          <a:off x="28376097" y="8101360"/>
          <a:ext cx="14143493" cy="24175720"/>
        </p:xfrm>
        <a:graphic>
          <a:graphicData uri="http://schemas.openxmlformats.org/drawingml/2006/table">
            <a:tbl>
              <a:tblPr/>
              <a:tblGrid>
                <a:gridCol w="14143493">
                  <a:extLst>
                    <a:ext uri="{9D8B030D-6E8A-4147-A177-3AD203B41FA5}">
                      <a16:colId xmlns:a16="http://schemas.microsoft.com/office/drawing/2014/main" val="2659221207"/>
                    </a:ext>
                  </a:extLst>
                </a:gridCol>
              </a:tblGrid>
              <a:tr h="240594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/>
                        <a:t>Genomic Pattern Analysis: </a:t>
                      </a:r>
                      <a:r>
                        <a:rPr lang="en-US" sz="2800" b="0" dirty="0" err="1"/>
                        <a:t>EcoRI</a:t>
                      </a:r>
                      <a:r>
                        <a:rPr lang="en-US" sz="2800" b="0" dirty="0"/>
                        <a:t> Restriction Site Identification</a:t>
                      </a:r>
                      <a:endParaRPr lang="en-US" sz="2800" b="0" u="none" dirty="0"/>
                    </a:p>
                    <a:p>
                      <a:pPr algn="ctr"/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/>
                        <a:t>python3 </a:t>
                      </a:r>
                      <a:r>
                        <a:rPr lang="en-US" sz="2800" b="1" u="none" dirty="0" err="1"/>
                        <a:t>main.py</a:t>
                      </a:r>
                      <a:r>
                        <a:rPr lang="en-US" sz="2800" b="1" u="none" dirty="0"/>
                        <a:t> input/</a:t>
                      </a:r>
                      <a:r>
                        <a:rPr lang="en-US" sz="2800" b="1" u="none" dirty="0" err="1"/>
                        <a:t>sequences.fasta</a:t>
                      </a:r>
                      <a:r>
                        <a:rPr lang="en-US" sz="2800" b="1" u="none" dirty="0"/>
                        <a:t> 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  </a:t>
                      </a:r>
                      <a:r>
                        <a:rPr lang="en-US" sz="2800" b="1" u="none" dirty="0" err="1">
                          <a:solidFill>
                            <a:schemeClr val="accent1"/>
                          </a:solidFill>
                        </a:rPr>
                        <a:t>BioAgent</a:t>
                      </a:r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 - Multi-Agent LLM Analysis System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/>
                        <a:t>Loading checkpoint shards: 100%|██████████████████████| 5/5 [00:16&lt;00:00,  3.39s/it]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/>
                        <a:t>Detected file format: FASTA</a:t>
                      </a:r>
                    </a:p>
                    <a:p>
                      <a:pPr algn="ctr"/>
                      <a:r>
                        <a:rPr lang="en-US" sz="2800" b="1" u="none" dirty="0"/>
                        <a:t>File: </a:t>
                      </a:r>
                      <a:r>
                        <a:rPr lang="en-US" sz="2800" b="1" u="none" dirty="0" err="1"/>
                        <a:t>sequences.fasta</a:t>
                      </a:r>
                      <a:endParaRPr lang="en-US" sz="2800" b="1" u="none" dirty="0"/>
                    </a:p>
                    <a:p>
                      <a:pPr algn="ctr"/>
                      <a:r>
                        <a:rPr lang="en-US" sz="2800" b="1" u="none" dirty="0"/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/>
                        <a:t>What type of analysis would you like to perform?</a:t>
                      </a:r>
                    </a:p>
                    <a:p>
                      <a:pPr algn="ctr"/>
                      <a:r>
                        <a:rPr lang="en-US" sz="2800" b="1" u="none" dirty="0"/>
                        <a:t>  [1] GC content analysis &amp; restriction site detection</a:t>
                      </a:r>
                    </a:p>
                    <a:p>
                      <a:pPr algn="ctr"/>
                      <a:r>
                        <a:rPr lang="en-US" sz="2800" b="1" u="none" dirty="0"/>
                        <a:t>  [2] Sequence length statistics</a:t>
                      </a:r>
                    </a:p>
                    <a:p>
                      <a:pPr algn="ctr"/>
                      <a:r>
                        <a:rPr lang="en-US" sz="2800" b="1" u="none" dirty="0"/>
                        <a:t>  [3] Custom (describe your own)</a:t>
                      </a:r>
                    </a:p>
                    <a:p>
                      <a:pPr algn="ctr"/>
                      <a:endParaRPr lang="en-US" sz="1600" b="1" u="none" dirty="0"/>
                    </a:p>
                    <a:p>
                      <a:pPr algn="ctr"/>
                      <a:r>
                        <a:rPr lang="en-US" sz="2800" b="1" u="none" dirty="0"/>
                        <a:t>Select an option (number): 3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/>
                        <a:t>Describe what you want to do with the data:</a:t>
                      </a:r>
                    </a:p>
                    <a:p>
                      <a:pPr algn="ctr"/>
                      <a:r>
                        <a:rPr lang="en-US" sz="2800" b="1" u="none" dirty="0"/>
                        <a:t>&gt; Write a Python function that reads a </a:t>
                      </a:r>
                      <a:r>
                        <a:rPr lang="en-US" sz="2800" b="1" u="none" dirty="0" err="1"/>
                        <a:t>sequences.fasta</a:t>
                      </a:r>
                      <a:r>
                        <a:rPr lang="en-US" sz="2800" b="1" u="none" dirty="0"/>
                        <a:t> file and identifies sequences containing the </a:t>
                      </a:r>
                      <a:r>
                        <a:rPr lang="en-US" sz="2800" b="1" u="none" dirty="0" err="1"/>
                        <a:t>EcoRI</a:t>
                      </a:r>
                      <a:r>
                        <a:rPr lang="en-US" sz="2800" b="1" u="none" dirty="0"/>
                        <a:t> restriction site ("GAATTC"), returning the sequence IDs and positions of the sites for downstream genetic analysis.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/>
                        <a:t>Do you have any specific thresholds or filters?</a:t>
                      </a:r>
                    </a:p>
                    <a:p>
                      <a:pPr algn="ctr"/>
                      <a:r>
                        <a:rPr lang="en-US" sz="2800" b="1" u="none" dirty="0"/>
                        <a:t>  [1] Use defaults</a:t>
                      </a:r>
                    </a:p>
                    <a:p>
                      <a:pPr algn="ctr"/>
                      <a:r>
                        <a:rPr lang="en-US" sz="2800" b="1" u="none" dirty="0"/>
                        <a:t>  [2] Specify my own</a:t>
                      </a:r>
                    </a:p>
                    <a:p>
                      <a:pPr algn="ctr"/>
                      <a:r>
                        <a:rPr lang="en-US" sz="2800" b="1" u="none" dirty="0"/>
                        <a:t>Select (1 or 2): 1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/>
                        <a:t>How would you like the output?</a:t>
                      </a:r>
                    </a:p>
                    <a:p>
                      <a:pPr algn="ctr"/>
                      <a:r>
                        <a:rPr lang="en-US" sz="2800" b="1" u="none" dirty="0"/>
                        <a:t>  [1] Print results to terminal</a:t>
                      </a:r>
                    </a:p>
                    <a:p>
                      <a:pPr algn="ctr"/>
                      <a:r>
                        <a:rPr lang="en-US" sz="2800" b="1" u="none" dirty="0"/>
                        <a:t>  [2] Save to an output file</a:t>
                      </a:r>
                    </a:p>
                    <a:p>
                      <a:pPr algn="ctr"/>
                      <a:r>
                        <a:rPr lang="en-US" sz="2800" b="1" u="none" dirty="0"/>
                        <a:t>  [3] Both</a:t>
                      </a:r>
                    </a:p>
                    <a:p>
                      <a:pPr algn="ctr"/>
                      <a:r>
                        <a:rPr lang="en-US" sz="2800" b="1" u="none" dirty="0"/>
                        <a:t>Select (1, 2, or 3): 1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/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/>
                        <a:t>Final query: Write a Python function that reads a </a:t>
                      </a:r>
                      <a:r>
                        <a:rPr lang="en-US" sz="2800" b="1" u="none" dirty="0" err="1"/>
                        <a:t>sequences.fasta</a:t>
                      </a:r>
                      <a:r>
                        <a:rPr lang="en-US" sz="2800" b="1" u="none" dirty="0"/>
                        <a:t> file and identifies sequences containing the </a:t>
                      </a:r>
                      <a:r>
                        <a:rPr lang="en-US" sz="2800" b="1" u="none" dirty="0" err="1"/>
                        <a:t>EcoRI</a:t>
                      </a:r>
                      <a:r>
                        <a:rPr lang="en-US" sz="2800" b="1" u="none" dirty="0"/>
                        <a:t> restriction site ("GAATTC"), returning the sequence IDs and positions of the sites for downstream genetic analysis. The input file is </a:t>
                      </a:r>
                      <a:r>
                        <a:rPr lang="en-US" sz="2800" b="1" u="none" dirty="0" err="1"/>
                        <a:t>sequences.fasta</a:t>
                      </a:r>
                      <a:r>
                        <a:rPr lang="en-US" sz="2800" b="1" u="none" dirty="0"/>
                        <a:t>.</a:t>
                      </a:r>
                    </a:p>
                    <a:p>
                      <a:pPr algn="ctr"/>
                      <a:r>
                        <a:rPr lang="en-US" sz="2800" b="1" u="none" dirty="0"/>
                        <a:t>==================================================  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Blueprint generated (11s)                                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Code generated (9s)                                    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Attempt 1 failed (6s)                                   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rgbClr val="FF0000"/>
                          </a:solidFill>
                        </a:rPr>
                        <a:t>Attempt 1 failed — asking AI to fix the code...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Revised code generated (9s)                            </a:t>
                      </a:r>
                    </a:p>
                    <a:p>
                      <a:pPr algn="ctr"/>
                      <a:r>
                        <a:rPr lang="en-US" sz="2800" b="1" u="none" dirty="0"/>
                        <a:t>  </a:t>
                      </a:r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✔</a:t>
                      </a:r>
                      <a:r>
                        <a:rPr lang="en-US" sz="2800" b="1" u="none" dirty="0"/>
                        <a:t> Execution succeeded (6s)                                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  RESULTS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==================================================</a:t>
                      </a:r>
                    </a:p>
                    <a:p>
                      <a:pPr algn="ctr"/>
                      <a:r>
                        <a:rPr lang="en-US" sz="2800" b="1" u="none" dirty="0">
                          <a:solidFill>
                            <a:srgbClr val="00B050"/>
                          </a:solidFill>
                        </a:rPr>
                        <a:t>Generated script saved to: output/solution.py</a:t>
                      </a:r>
                    </a:p>
                    <a:p>
                      <a:pPr algn="ctr"/>
                      <a:endParaRPr lang="en-US" sz="1800" b="1" u="none" dirty="0"/>
                    </a:p>
                    <a:p>
                      <a:pPr algn="ctr"/>
                      <a:r>
                        <a:rPr lang="en-US" sz="2800" b="1" u="none" dirty="0">
                          <a:solidFill>
                            <a:schemeClr val="accent1"/>
                          </a:solidFill>
                        </a:rPr>
                        <a:t>--- Solution Output ---</a:t>
                      </a:r>
                    </a:p>
                    <a:p>
                      <a:pPr algn="ctr"/>
                      <a:r>
                        <a:rPr lang="en-US" sz="2800" b="1" u="none" dirty="0"/>
                        <a:t>Sequence ID: seq1, </a:t>
                      </a:r>
                      <a:r>
                        <a:rPr lang="en-US" sz="2800" b="1" u="none" dirty="0" err="1"/>
                        <a:t>EcoRI</a:t>
                      </a:r>
                      <a:r>
                        <a:rPr lang="en-US" sz="2800" b="1" u="none" dirty="0"/>
                        <a:t> sites: [11, 34]</a:t>
                      </a:r>
                    </a:p>
                    <a:p>
                      <a:pPr algn="ctr"/>
                      <a:r>
                        <a:rPr lang="en-US" sz="2800" b="1" u="none" dirty="0"/>
                        <a:t>Sequence ID: seq2, </a:t>
                      </a:r>
                      <a:r>
                        <a:rPr lang="en-US" sz="2800" b="1" u="none" dirty="0" err="1"/>
                        <a:t>EcoRI</a:t>
                      </a:r>
                      <a:r>
                        <a:rPr lang="en-US" sz="2800" b="1" u="none" dirty="0"/>
                        <a:t> sites: [14]</a:t>
                      </a:r>
                    </a:p>
                    <a:p>
                      <a:pPr algn="ctr"/>
                      <a:r>
                        <a:rPr lang="en-US" sz="2800" b="1" u="none" dirty="0"/>
                        <a:t>Sequence ID: seq3, </a:t>
                      </a:r>
                      <a:r>
                        <a:rPr lang="en-US" sz="2800" b="1" u="none" dirty="0" err="1"/>
                        <a:t>EcoRI</a:t>
                      </a:r>
                      <a:r>
                        <a:rPr lang="en-US" sz="2800" b="1" u="none" dirty="0"/>
                        <a:t> sites: [12]</a:t>
                      </a:r>
                    </a:p>
                    <a:p>
                      <a:pPr algn="ctr"/>
                      <a:r>
                        <a:rPr lang="en-US" sz="2800" b="1" u="none" dirty="0"/>
                        <a:t>Sequence ID: seq4, </a:t>
                      </a:r>
                      <a:r>
                        <a:rPr lang="en-US" sz="2800" b="1" u="none" dirty="0" err="1"/>
                        <a:t>EcoRI</a:t>
                      </a:r>
                      <a:r>
                        <a:rPr lang="en-US" sz="2800" b="1" u="none" dirty="0"/>
                        <a:t> sites: [16]</a:t>
                      </a:r>
                    </a:p>
                  </a:txBody>
                  <a:tcPr marL="63500" marR="63500" marT="63500" marB="635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245067"/>
                  </a:ext>
                </a:extLst>
              </a:tr>
            </a:tbl>
          </a:graphicData>
        </a:graphic>
      </p:graphicFrame>
      <p:sp>
        <p:nvSpPr>
          <p:cNvPr id="71" name="Google Shape;71;p16"/>
          <p:cNvSpPr txBox="1"/>
          <p:nvPr/>
        </p:nvSpPr>
        <p:spPr>
          <a:xfrm>
            <a:off x="39090592" y="884691"/>
            <a:ext cx="48066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80000"/>
              </a:lnSpc>
              <a:buSzPts val="688"/>
            </a:pPr>
            <a:r>
              <a:rPr lang="en" sz="10000" dirty="0">
                <a:solidFill>
                  <a:schemeClr val="lt1"/>
                </a:solidFill>
                <a:latin typeface="Roboto Condensed ExtraBold"/>
                <a:ea typeface="Roboto Condensed ExtraBold"/>
                <a:cs typeface="Roboto Condensed ExtraBold"/>
              </a:rPr>
              <a:t>26-335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lang="en" sz="10000" dirty="0">
              <a:solidFill>
                <a:schemeClr val="lt1"/>
              </a:solidFill>
              <a:latin typeface="Roboto Condensed ExtraBold"/>
              <a:ea typeface="Roboto Condensed ExtraBold"/>
              <a:cs typeface="Roboto Condensed ExtraBold"/>
            </a:endParaRPr>
          </a:p>
        </p:txBody>
      </p:sp>
      <p:sp>
        <p:nvSpPr>
          <p:cNvPr id="3" name="Google Shape;24;g11a88963fa4_0_0">
            <a:extLst>
              <a:ext uri="{FF2B5EF4-FFF2-40B4-BE49-F238E27FC236}">
                <a16:creationId xmlns:a16="http://schemas.microsoft.com/office/drawing/2014/main" id="{C941C77A-29DC-44D1-B3E6-934B3EF22311}"/>
              </a:ext>
            </a:extLst>
          </p:cNvPr>
          <p:cNvSpPr txBox="1"/>
          <p:nvPr/>
        </p:nvSpPr>
        <p:spPr>
          <a:xfrm>
            <a:off x="957945" y="3409407"/>
            <a:ext cx="43107427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Agents for Bioinformatics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3600"/>
            </a:pP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Team members: 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Carter Struck,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Ozi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Jawad, Mack Hicks, Sona James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Faculty adviser: 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Ph.D.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Partner: </a:t>
            </a:r>
            <a:r>
              <a:rPr lang="en-US" sz="3600" b="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VCU College of Engineering  |  </a:t>
            </a: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Mentor: 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Tomasz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Arodz</a:t>
            </a:r>
            <a:r>
              <a:rPr lang="en-US" sz="3600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i="0" u="none" strike="noStrike" cap="none" dirty="0" err="1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Ph.D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56511-4C4D-531B-5BF2-6B0E17F4A68B}"/>
              </a:ext>
            </a:extLst>
          </p:cNvPr>
          <p:cNvSpPr txBox="1"/>
          <p:nvPr/>
        </p:nvSpPr>
        <p:spPr>
          <a:xfrm>
            <a:off x="1371598" y="7926787"/>
            <a:ext cx="1327153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Develop a functional multi-agent AI system using open-source large language models (LLMs) capable of processing, coding, and interpreting genomic datasets.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Design and implement an AI-based tool that can automatically generate and execute Python code for bioinformatic tasks.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Deliver accurate and reliable solutions generated by the AI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 time required to process and interpret data by 50% compared to traditional bioinformatic workflows.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FED9C-0D6A-AF0D-00C8-0F6D0489D213}"/>
              </a:ext>
            </a:extLst>
          </p:cNvPr>
          <p:cNvSpPr txBox="1"/>
          <p:nvPr/>
        </p:nvSpPr>
        <p:spPr>
          <a:xfrm>
            <a:off x="1371599" y="15166193"/>
            <a:ext cx="132715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Bioinformatic tasks dealing with large datasets are complex and required domain knowledge.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goal of the agent is to simplify this process for non-bioinformaticians working on genomic datasets that often require a bioinformatician to decipher.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To solve this problem, we propose a multi-agent AI system capable of reading genomic data, analyzing it, and producing useful and understandable insights.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D06EC-5F06-CF91-5ECD-58426E66E0C1}"/>
              </a:ext>
            </a:extLst>
          </p:cNvPr>
          <p:cNvSpPr txBox="1"/>
          <p:nvPr/>
        </p:nvSpPr>
        <p:spPr>
          <a:xfrm>
            <a:off x="15406501" y="8066907"/>
            <a:ext cx="12154755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Model must run on NVDIA A100 GPU 40GB.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LLMs parameter sizes limited to 20 Billion.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Open Source, trustworthy LLMs only.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Reasonable completion speed for output.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Agents must debug and produce runnable python code.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Agents must be able to write code to process typical file formats for bioinformatics (FASTA, FASTQ, VCF).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59F9B-BB0D-15FA-4B88-666400FC6A86}"/>
              </a:ext>
            </a:extLst>
          </p:cNvPr>
          <p:cNvSpPr txBox="1"/>
          <p:nvPr/>
        </p:nvSpPr>
        <p:spPr>
          <a:xfrm>
            <a:off x="15406499" y="13748795"/>
            <a:ext cx="12154758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One LLM was chosen for both writing and coding agents for current prototyping simplicity.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We chose the LLM, Code Llama, because it is a coding focused model with adequate writing abilities.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Current LLM instructions were written to focus primarily on Python code.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models will write Python code because of the vast amounts of data processing libraries and capabilities to easily work with users input.</a:t>
            </a:r>
          </a:p>
          <a:p>
            <a:br>
              <a:rPr lang="en-US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BE3CFA-C696-2DC5-8DFE-474469302A6E}"/>
              </a:ext>
            </a:extLst>
          </p:cNvPr>
          <p:cNvCxnSpPr>
            <a:cxnSpLocks/>
          </p:cNvCxnSpPr>
          <p:nvPr/>
        </p:nvCxnSpPr>
        <p:spPr>
          <a:xfrm>
            <a:off x="14919602" y="6670901"/>
            <a:ext cx="0" cy="1315498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1EF6C07-B31A-2E45-14DB-E6DC358389D4}"/>
              </a:ext>
            </a:extLst>
          </p:cNvPr>
          <p:cNvSpPr/>
          <p:nvPr/>
        </p:nvSpPr>
        <p:spPr>
          <a:xfrm>
            <a:off x="1371599" y="6604140"/>
            <a:ext cx="13271549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Objective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8BBEEA-B1CB-7B61-87EC-1374D17499ED}"/>
              </a:ext>
            </a:extLst>
          </p:cNvPr>
          <p:cNvCxnSpPr>
            <a:cxnSpLocks/>
          </p:cNvCxnSpPr>
          <p:nvPr/>
        </p:nvCxnSpPr>
        <p:spPr>
          <a:xfrm>
            <a:off x="1371600" y="6383867"/>
            <a:ext cx="41176575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BDEB742-33EB-D5F7-B5DD-72CBCCB8998B}"/>
              </a:ext>
            </a:extLst>
          </p:cNvPr>
          <p:cNvSpPr/>
          <p:nvPr/>
        </p:nvSpPr>
        <p:spPr>
          <a:xfrm>
            <a:off x="1371599" y="13782516"/>
            <a:ext cx="13271539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Problem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B6D0E2B-869A-4F89-F263-764C5C88E597}"/>
              </a:ext>
            </a:extLst>
          </p:cNvPr>
          <p:cNvSpPr/>
          <p:nvPr/>
        </p:nvSpPr>
        <p:spPr>
          <a:xfrm>
            <a:off x="15406505" y="6664089"/>
            <a:ext cx="12154755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/>
              <a:t>Design Constraints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C83E0FE-5398-C646-AC68-70928A1FD1BB}"/>
              </a:ext>
            </a:extLst>
          </p:cNvPr>
          <p:cNvSpPr/>
          <p:nvPr/>
        </p:nvSpPr>
        <p:spPr>
          <a:xfrm>
            <a:off x="15406499" y="12314485"/>
            <a:ext cx="12154758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/>
              <a:t>Implementation Choices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FC53538-A8F5-4438-3409-53BB8AB5C303}"/>
              </a:ext>
            </a:extLst>
          </p:cNvPr>
          <p:cNvCxnSpPr>
            <a:cxnSpLocks/>
          </p:cNvCxnSpPr>
          <p:nvPr/>
        </p:nvCxnSpPr>
        <p:spPr>
          <a:xfrm>
            <a:off x="1371599" y="20045909"/>
            <a:ext cx="2651760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38BAC7C-D618-2350-98C7-C618FD7A9910}"/>
              </a:ext>
            </a:extLst>
          </p:cNvPr>
          <p:cNvSpPr/>
          <p:nvPr/>
        </p:nvSpPr>
        <p:spPr>
          <a:xfrm>
            <a:off x="9995809" y="20471133"/>
            <a:ext cx="12515849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Final Design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48E9B7C-FFB7-2D6F-2996-5DE799C26BBB}"/>
              </a:ext>
            </a:extLst>
          </p:cNvPr>
          <p:cNvSpPr/>
          <p:nvPr/>
        </p:nvSpPr>
        <p:spPr>
          <a:xfrm>
            <a:off x="28324617" y="6664089"/>
            <a:ext cx="14194983" cy="1157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/>
              <a:t>Example System Execution 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E5BD08A-D0B8-957C-B30B-66C8C2D0F74A}"/>
              </a:ext>
            </a:extLst>
          </p:cNvPr>
          <p:cNvCxnSpPr>
            <a:cxnSpLocks/>
          </p:cNvCxnSpPr>
          <p:nvPr/>
        </p:nvCxnSpPr>
        <p:spPr>
          <a:xfrm>
            <a:off x="27890865" y="6670901"/>
            <a:ext cx="0" cy="1315498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697</Words>
  <Application>Microsoft Macintosh PowerPoint</Application>
  <PresentationFormat>Custom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 Condensed ExtraBold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slide deck template</dc:title>
  <dc:creator>Bradley Nichols</dc:creator>
  <cp:lastModifiedBy>Sona James</cp:lastModifiedBy>
  <cp:revision>149</cp:revision>
  <dcterms:modified xsi:type="dcterms:W3CDTF">2026-03-27T06:50:55Z</dcterms:modified>
</cp:coreProperties>
</file>