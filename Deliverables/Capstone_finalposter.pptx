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9" r:id="rId2"/>
  </p:sldIdLst>
  <p:sldSz cx="43891200" cy="32918400"/>
  <p:notesSz cx="7102475" cy="9388475"/>
  <p:embeddedFontLst>
    <p:embeddedFont>
      <p:font typeface="Roboto Condensed ExtraBold" panose="020B0604020202020204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4">
          <p15:clr>
            <a:srgbClr val="747775"/>
          </p15:clr>
        </p15:guide>
        <p15:guide id="2" pos="24336">
          <p15:clr>
            <a:srgbClr val="747775"/>
          </p15:clr>
        </p15:guide>
        <p15:guide id="3" pos="2462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26"/>
    <p:restoredTop sz="94612"/>
  </p:normalViewPr>
  <p:slideViewPr>
    <p:cSldViewPr snapToGrid="0">
      <p:cViewPr>
        <p:scale>
          <a:sx n="50" d="100"/>
          <a:sy n="50" d="100"/>
        </p:scale>
        <p:origin x="36" y="-3486"/>
      </p:cViewPr>
      <p:guideLst>
        <p:guide orient="horz" pos="1224"/>
        <p:guide pos="24336"/>
        <p:guide pos="24624"/>
      </p:guideLst>
    </p:cSldViewPr>
  </p:slideViewPr>
  <p:notesTextViewPr>
    <p:cViewPr>
      <p:scale>
        <a:sx n="40" d="100"/>
        <a:sy n="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4237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13" tIns="94213" rIns="94213" bIns="94213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8c7d51fe0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2650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8c7d51fe05_0_6:notes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</p:spPr>
        <p:txBody>
          <a:bodyPr spcFirstLastPara="1" wrap="square" lIns="94213" tIns="94213" rIns="94213" bIns="94213" anchor="t" anchorCtr="0">
            <a:noAutofit/>
          </a:bodyPr>
          <a:lstStyle/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496160" y="13765440"/>
            <a:ext cx="40899000" cy="53874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2319552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1496160" y="3555840"/>
            <a:ext cx="13478400" cy="483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1496160" y="8893440"/>
            <a:ext cx="13478400" cy="203481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2353200" y="2880960"/>
            <a:ext cx="30565500" cy="261810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21945600" y="-800"/>
            <a:ext cx="21945600" cy="3291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487600" tIns="487600" rIns="487600" bIns="4876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1274400" y="7892320"/>
            <a:ext cx="19416900" cy="948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1274400" y="17939680"/>
            <a:ext cx="19416900" cy="79047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23709600" y="4634080"/>
            <a:ext cx="18417600" cy="23648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1496160" y="27075680"/>
            <a:ext cx="28794300" cy="3872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1496160" y="7079200"/>
            <a:ext cx="40899000" cy="125664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1496160" y="20174240"/>
            <a:ext cx="40899000" cy="83250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marL="914400" lvl="1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2pPr>
            <a:lvl3pPr marL="1371600" lvl="2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3pPr>
            <a:lvl4pPr marL="1828800" lvl="3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4pPr>
            <a:lvl5pPr marL="2286000" lvl="4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5pPr>
            <a:lvl6pPr marL="2743200" lvl="5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6pPr>
            <a:lvl7pPr marL="3200400" lvl="6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7pPr>
            <a:lvl8pPr marL="3657600" lvl="7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8pPr>
            <a:lvl9pPr marL="4114800" lvl="8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r">
              <a:buNone/>
              <a:defRPr sz="5333">
                <a:solidFill>
                  <a:schemeClr val="dk2"/>
                </a:solidFill>
              </a:defRPr>
            </a:lvl1pPr>
            <a:lvl2pPr lvl="1" algn="r">
              <a:buNone/>
              <a:defRPr sz="5333">
                <a:solidFill>
                  <a:schemeClr val="dk2"/>
                </a:solidFill>
              </a:defRPr>
            </a:lvl2pPr>
            <a:lvl3pPr lvl="2" algn="r">
              <a:buNone/>
              <a:defRPr sz="5333">
                <a:solidFill>
                  <a:schemeClr val="dk2"/>
                </a:solidFill>
              </a:defRPr>
            </a:lvl3pPr>
            <a:lvl4pPr lvl="3" algn="r">
              <a:buNone/>
              <a:defRPr sz="5333">
                <a:solidFill>
                  <a:schemeClr val="dk2"/>
                </a:solidFill>
              </a:defRPr>
            </a:lvl4pPr>
            <a:lvl5pPr lvl="4" algn="r">
              <a:buNone/>
              <a:defRPr sz="5333">
                <a:solidFill>
                  <a:schemeClr val="dk2"/>
                </a:solidFill>
              </a:defRPr>
            </a:lvl5pPr>
            <a:lvl6pPr lvl="5" algn="r">
              <a:buNone/>
              <a:defRPr sz="5333">
                <a:solidFill>
                  <a:schemeClr val="dk2"/>
                </a:solidFill>
              </a:defRPr>
            </a:lvl6pPr>
            <a:lvl7pPr lvl="6" algn="r">
              <a:buNone/>
              <a:defRPr sz="5333">
                <a:solidFill>
                  <a:schemeClr val="dk2"/>
                </a:solidFill>
              </a:defRPr>
            </a:lvl7pPr>
            <a:lvl8pPr lvl="7" algn="r">
              <a:buNone/>
              <a:defRPr sz="5333">
                <a:solidFill>
                  <a:schemeClr val="dk2"/>
                </a:solidFill>
              </a:defRPr>
            </a:lvl8pPr>
            <a:lvl9pPr lvl="8" algn="r">
              <a:buNone/>
              <a:defRPr sz="5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2FE07E5-4DC1-376B-C043-2AD7F6C3F5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385562"/>
              </p:ext>
            </p:extLst>
          </p:nvPr>
        </p:nvGraphicFramePr>
        <p:xfrm>
          <a:off x="28376097" y="8101360"/>
          <a:ext cx="14143493" cy="24059487"/>
        </p:xfrm>
        <a:graphic>
          <a:graphicData uri="http://schemas.openxmlformats.org/drawingml/2006/table">
            <a:tbl>
              <a:tblPr/>
              <a:tblGrid>
                <a:gridCol w="14143493">
                  <a:extLst>
                    <a:ext uri="{9D8B030D-6E8A-4147-A177-3AD203B41FA5}">
                      <a16:colId xmlns:a16="http://schemas.microsoft.com/office/drawing/2014/main" val="2659221207"/>
                    </a:ext>
                  </a:extLst>
                </a:gridCol>
              </a:tblGrid>
              <a:tr h="240594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800" b="1" dirty="0"/>
                        <a:t>Genomic Pattern Analysis: </a:t>
                      </a:r>
                      <a:r>
                        <a:rPr lang="en-US" sz="2800" b="0" dirty="0" err="1"/>
                        <a:t>EcoRI</a:t>
                      </a:r>
                      <a:r>
                        <a:rPr lang="en-US" sz="2800" b="0" dirty="0"/>
                        <a:t> Restriction Site Identification</a:t>
                      </a:r>
                      <a:endParaRPr lang="en-US" sz="2800" b="0" u="none" dirty="0"/>
                    </a:p>
                    <a:p>
                      <a:pPr algn="ctr"/>
                      <a:endParaRPr lang="en-US" sz="2800" b="1" u="none" dirty="0"/>
                    </a:p>
                    <a:p>
                      <a:pPr algn="ctr"/>
                      <a:r>
                        <a:rPr lang="en-US" sz="2800" b="1" u="none" dirty="0"/>
                        <a:t>python3 </a:t>
                      </a:r>
                      <a:r>
                        <a:rPr lang="en-US" sz="2800" b="1" u="none" dirty="0" err="1"/>
                        <a:t>main.py</a:t>
                      </a:r>
                      <a:r>
                        <a:rPr lang="en-US" sz="2800" b="1" u="none" dirty="0"/>
                        <a:t> input/</a:t>
                      </a:r>
                      <a:r>
                        <a:rPr lang="en-US" sz="2800" b="1" u="none" dirty="0" err="1"/>
                        <a:t>sequences.fasta</a:t>
                      </a:r>
                      <a:r>
                        <a:rPr lang="en-US" sz="2800" b="1" u="none" dirty="0"/>
                        <a:t> 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==================================================</a:t>
                      </a:r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  </a:t>
                      </a:r>
                      <a:r>
                        <a:rPr lang="en-US" sz="2800" b="1" u="none" dirty="0" err="1">
                          <a:solidFill>
                            <a:schemeClr val="accent1"/>
                          </a:solidFill>
                        </a:rPr>
                        <a:t>BioAgent</a:t>
                      </a:r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 - Multi-Agent LLM Analysis System</a:t>
                      </a:r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==================================================</a:t>
                      </a:r>
                      <a:endParaRPr lang="en-US" sz="2800" b="1" u="none" dirty="0"/>
                    </a:p>
                    <a:p>
                      <a:pPr algn="ctr"/>
                      <a:r>
                        <a:rPr lang="en-US" sz="2800" b="1" u="none" dirty="0"/>
                        <a:t>Loading checkpoint shards: 100%|██████████████████████| 5/5 [00:16&lt;00:00,  3.39s/it]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/>
                        <a:t>Detected file format: FASTA</a:t>
                      </a:r>
                    </a:p>
                    <a:p>
                      <a:pPr algn="ctr"/>
                      <a:r>
                        <a:rPr lang="en-US" sz="2800" b="1" u="none" dirty="0"/>
                        <a:t>File: </a:t>
                      </a:r>
                      <a:r>
                        <a:rPr lang="en-US" sz="2800" b="1" u="none" dirty="0" err="1"/>
                        <a:t>sequences.fasta</a:t>
                      </a:r>
                      <a:endParaRPr lang="en-US" sz="2800" b="1" u="none" dirty="0"/>
                    </a:p>
                    <a:p>
                      <a:pPr algn="ctr"/>
                      <a:r>
                        <a:rPr lang="en-US" sz="2800" b="1" u="none" dirty="0"/>
                        <a:t>==================================================</a:t>
                      </a:r>
                    </a:p>
                    <a:p>
                      <a:pPr algn="ctr"/>
                      <a:r>
                        <a:rPr lang="en-US" sz="2800" b="1" u="none" dirty="0"/>
                        <a:t>What type of analysis would you like to perform?</a:t>
                      </a:r>
                    </a:p>
                    <a:p>
                      <a:pPr algn="ctr"/>
                      <a:r>
                        <a:rPr lang="en-US" sz="2800" b="1" u="none" dirty="0"/>
                        <a:t>  [1] GC content analysis &amp; restriction site detection</a:t>
                      </a:r>
                    </a:p>
                    <a:p>
                      <a:pPr algn="ctr"/>
                      <a:r>
                        <a:rPr lang="en-US" sz="2800" b="1" u="none" dirty="0"/>
                        <a:t>  [2] Sequence length statistics</a:t>
                      </a:r>
                    </a:p>
                    <a:p>
                      <a:pPr algn="ctr"/>
                      <a:r>
                        <a:rPr lang="en-US" sz="2800" b="1" u="none" dirty="0"/>
                        <a:t>  [3] Custom (describe your own)</a:t>
                      </a:r>
                    </a:p>
                    <a:p>
                      <a:pPr algn="ctr"/>
                      <a:endParaRPr lang="en-US" sz="1600" b="1" u="none" dirty="0"/>
                    </a:p>
                    <a:p>
                      <a:pPr algn="ctr"/>
                      <a:r>
                        <a:rPr lang="en-US" sz="2800" b="1" u="none" dirty="0"/>
                        <a:t>Select an option (number): 3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/>
                        <a:t>Describe what you want to do with the data:</a:t>
                      </a:r>
                    </a:p>
                    <a:p>
                      <a:pPr algn="ctr"/>
                      <a:r>
                        <a:rPr lang="en-US" sz="2800" b="1" u="none" dirty="0"/>
                        <a:t>&gt; Write a Python function that reads a </a:t>
                      </a:r>
                      <a:r>
                        <a:rPr lang="en-US" sz="2800" b="1" u="none" dirty="0" err="1"/>
                        <a:t>sequences.fasta</a:t>
                      </a:r>
                      <a:r>
                        <a:rPr lang="en-US" sz="2800" b="1" u="none" dirty="0"/>
                        <a:t> file and identifies sequences containing the </a:t>
                      </a:r>
                      <a:r>
                        <a:rPr lang="en-US" sz="2800" b="1" u="none" dirty="0" err="1"/>
                        <a:t>EcoRI</a:t>
                      </a:r>
                      <a:r>
                        <a:rPr lang="en-US" sz="2800" b="1" u="none" dirty="0"/>
                        <a:t> restriction site ("GAATTC"), returning the sequence IDs and positions of the sites for downstream genetic analysis.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/>
                        <a:t>How would you like the output?</a:t>
                      </a:r>
                    </a:p>
                    <a:p>
                      <a:pPr algn="ctr"/>
                      <a:r>
                        <a:rPr lang="en-US" sz="2800" b="1" u="none" dirty="0"/>
                        <a:t>  [1] Print results to terminal</a:t>
                      </a:r>
                    </a:p>
                    <a:p>
                      <a:pPr algn="ctr"/>
                      <a:r>
                        <a:rPr lang="en-US" sz="2800" b="1" u="none" dirty="0"/>
                        <a:t>  [2] Save to an output file</a:t>
                      </a:r>
                    </a:p>
                    <a:p>
                      <a:pPr algn="ctr"/>
                      <a:r>
                        <a:rPr lang="en-US" sz="2800" b="1" u="none" dirty="0"/>
                        <a:t>  [3] Both</a:t>
                      </a:r>
                    </a:p>
                    <a:p>
                      <a:pPr algn="ctr"/>
                      <a:r>
                        <a:rPr lang="en-US" sz="2800" b="1" u="none" dirty="0"/>
                        <a:t>Select (1, 2, or 3): 1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/>
                        <a:t>==================================================</a:t>
                      </a:r>
                    </a:p>
                    <a:p>
                      <a:pPr algn="ctr"/>
                      <a:r>
                        <a:rPr lang="en-US" sz="2800" b="1" u="none" dirty="0"/>
                        <a:t>Final query: Write a Python function that reads a </a:t>
                      </a:r>
                      <a:r>
                        <a:rPr lang="en-US" sz="2800" b="1" u="none" dirty="0" err="1"/>
                        <a:t>sequences.fasta</a:t>
                      </a:r>
                      <a:r>
                        <a:rPr lang="en-US" sz="2800" b="1" u="none" dirty="0"/>
                        <a:t> file and identifies sequences containing the </a:t>
                      </a:r>
                      <a:r>
                        <a:rPr lang="en-US" sz="2800" b="1" u="none" dirty="0" err="1"/>
                        <a:t>EcoRI</a:t>
                      </a:r>
                      <a:r>
                        <a:rPr lang="en-US" sz="2800" b="1" u="none" dirty="0"/>
                        <a:t> restriction site ("GAATTC"), returning the sequence IDs and positions of the sites for downstream genetic analysis. The input file is </a:t>
                      </a:r>
                      <a:r>
                        <a:rPr lang="en-US" sz="2800" b="1" u="none" dirty="0" err="1"/>
                        <a:t>sequences.fasta</a:t>
                      </a:r>
                      <a:r>
                        <a:rPr lang="en-US" sz="2800" b="1" u="none" dirty="0"/>
                        <a:t>.</a:t>
                      </a:r>
                    </a:p>
                    <a:p>
                      <a:pPr algn="ctr"/>
                      <a:r>
                        <a:rPr lang="en-US" sz="2800" b="1" u="none" dirty="0"/>
                        <a:t>==================================================  </a:t>
                      </a:r>
                    </a:p>
                    <a:p>
                      <a:pPr algn="ctr"/>
                      <a:r>
                        <a:rPr lang="en-US" sz="2800" b="1" u="none" dirty="0">
                          <a:solidFill>
                            <a:srgbClr val="00B050"/>
                          </a:solidFill>
                        </a:rPr>
                        <a:t>✔</a:t>
                      </a:r>
                      <a:r>
                        <a:rPr lang="en-US" sz="2800" b="1" u="none" dirty="0"/>
                        <a:t> Blueprint generated (11s)                                </a:t>
                      </a:r>
                    </a:p>
                    <a:p>
                      <a:pPr algn="ctr"/>
                      <a:r>
                        <a:rPr lang="en-US" sz="2800" b="1" u="none" dirty="0"/>
                        <a:t>  </a:t>
                      </a:r>
                      <a:r>
                        <a:rPr lang="en-US" sz="2800" b="1" u="none" dirty="0">
                          <a:solidFill>
                            <a:srgbClr val="00B050"/>
                          </a:solidFill>
                        </a:rPr>
                        <a:t>✔</a:t>
                      </a:r>
                      <a:r>
                        <a:rPr lang="en-US" sz="2800" b="1" u="none" dirty="0"/>
                        <a:t> Code generated (9s)                                    </a:t>
                      </a:r>
                    </a:p>
                    <a:p>
                      <a:pPr algn="ctr"/>
                      <a:r>
                        <a:rPr lang="en-US" sz="2800" b="1" u="none" dirty="0"/>
                        <a:t>  </a:t>
                      </a:r>
                      <a:r>
                        <a:rPr lang="en-US" sz="2800" b="1" u="none" dirty="0">
                          <a:solidFill>
                            <a:srgbClr val="00B050"/>
                          </a:solidFill>
                        </a:rPr>
                        <a:t>✔</a:t>
                      </a:r>
                      <a:r>
                        <a:rPr lang="en-US" sz="2800" b="1" u="none" dirty="0"/>
                        <a:t> Attempt 1 failed (6s)                                   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>
                          <a:solidFill>
                            <a:srgbClr val="FF0000"/>
                          </a:solidFill>
                        </a:rPr>
                        <a:t>Attempt 1 failed — asking AI to fix the code...</a:t>
                      </a:r>
                    </a:p>
                    <a:p>
                      <a:pPr algn="ctr"/>
                      <a:r>
                        <a:rPr lang="en-US" sz="2800" b="1" u="none" dirty="0"/>
                        <a:t>  </a:t>
                      </a:r>
                      <a:r>
                        <a:rPr lang="en-US" sz="2800" b="1" u="none" dirty="0">
                          <a:solidFill>
                            <a:srgbClr val="00B050"/>
                          </a:solidFill>
                        </a:rPr>
                        <a:t>✔</a:t>
                      </a:r>
                      <a:r>
                        <a:rPr lang="en-US" sz="2800" b="1" u="none" dirty="0"/>
                        <a:t> Revised code generated (9s)                            </a:t>
                      </a:r>
                    </a:p>
                    <a:p>
                      <a:pPr algn="ctr"/>
                      <a:r>
                        <a:rPr lang="en-US" sz="2800" b="1" u="none" dirty="0"/>
                        <a:t>  </a:t>
                      </a:r>
                      <a:r>
                        <a:rPr lang="en-US" sz="2800" b="1" u="none" dirty="0">
                          <a:solidFill>
                            <a:srgbClr val="00B050"/>
                          </a:solidFill>
                        </a:rPr>
                        <a:t>✔</a:t>
                      </a:r>
                      <a:r>
                        <a:rPr lang="en-US" sz="2800" b="1" u="none" dirty="0"/>
                        <a:t> Execution succeeded (6s)                                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==================================================</a:t>
                      </a:r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  RESULTS</a:t>
                      </a:r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==================================================</a:t>
                      </a:r>
                    </a:p>
                    <a:p>
                      <a:pPr algn="ctr"/>
                      <a:r>
                        <a:rPr lang="en-US" sz="2800" b="1" u="none" dirty="0">
                          <a:solidFill>
                            <a:srgbClr val="00B050"/>
                          </a:solidFill>
                        </a:rPr>
                        <a:t>Generated script saved to: output/solution.py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--- Solution Output ---</a:t>
                      </a:r>
                    </a:p>
                    <a:p>
                      <a:pPr algn="ctr"/>
                      <a:r>
                        <a:rPr lang="en-US" sz="2800" b="1" u="none" dirty="0"/>
                        <a:t>Sequence ID: seq1, </a:t>
                      </a:r>
                      <a:r>
                        <a:rPr lang="en-US" sz="2800" b="1" u="none" dirty="0" err="1"/>
                        <a:t>EcoRI</a:t>
                      </a:r>
                      <a:r>
                        <a:rPr lang="en-US" sz="2800" b="1" u="none" dirty="0"/>
                        <a:t> sites: [11, 34]</a:t>
                      </a:r>
                    </a:p>
                    <a:p>
                      <a:pPr algn="ctr"/>
                      <a:r>
                        <a:rPr lang="en-US" sz="2800" b="1" u="none" dirty="0"/>
                        <a:t>Sequence ID: seq2, </a:t>
                      </a:r>
                      <a:r>
                        <a:rPr lang="en-US" sz="2800" b="1" u="none" dirty="0" err="1"/>
                        <a:t>EcoRI</a:t>
                      </a:r>
                      <a:r>
                        <a:rPr lang="en-US" sz="2800" b="1" u="none" dirty="0"/>
                        <a:t> sites: [14]</a:t>
                      </a:r>
                    </a:p>
                    <a:p>
                      <a:pPr algn="ctr"/>
                      <a:r>
                        <a:rPr lang="en-US" sz="2800" b="1" u="none" dirty="0"/>
                        <a:t>Sequence ID: seq3, </a:t>
                      </a:r>
                      <a:r>
                        <a:rPr lang="en-US" sz="2800" b="1" u="none" dirty="0" err="1"/>
                        <a:t>EcoRI</a:t>
                      </a:r>
                      <a:r>
                        <a:rPr lang="en-US" sz="2800" b="1" u="none" dirty="0"/>
                        <a:t> sites: [12]</a:t>
                      </a:r>
                    </a:p>
                    <a:p>
                      <a:pPr algn="ctr"/>
                      <a:r>
                        <a:rPr lang="en-US" sz="2800" b="1" u="none" dirty="0"/>
                        <a:t>Sequence ID: seq4, </a:t>
                      </a:r>
                      <a:r>
                        <a:rPr lang="en-US" sz="2800" b="1" u="none" dirty="0" err="1"/>
                        <a:t>EcoRI</a:t>
                      </a:r>
                      <a:r>
                        <a:rPr lang="en-US" sz="2800" b="1" u="none" dirty="0"/>
                        <a:t> sites: [16]</a:t>
                      </a:r>
                    </a:p>
                  </a:txBody>
                  <a:tcPr marL="63500" marR="63500" marT="63500" marB="63500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8245067"/>
                  </a:ext>
                </a:extLst>
              </a:tr>
            </a:tbl>
          </a:graphicData>
        </a:graphic>
      </p:graphicFrame>
      <p:sp>
        <p:nvSpPr>
          <p:cNvPr id="71" name="Google Shape;71;p16"/>
          <p:cNvSpPr txBox="1"/>
          <p:nvPr/>
        </p:nvSpPr>
        <p:spPr>
          <a:xfrm>
            <a:off x="39090592" y="884691"/>
            <a:ext cx="4806600" cy="1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80000"/>
              </a:lnSpc>
              <a:buSzPts val="688"/>
            </a:pPr>
            <a:r>
              <a:rPr lang="en" sz="10000" dirty="0">
                <a:solidFill>
                  <a:schemeClr val="lt1"/>
                </a:solidFill>
                <a:latin typeface="Roboto Condensed ExtraBold"/>
                <a:ea typeface="Roboto Condensed ExtraBold"/>
                <a:cs typeface="Roboto Condensed ExtraBold"/>
              </a:rPr>
              <a:t>26-335</a:t>
            </a: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endParaRPr lang="en" sz="10000" dirty="0">
              <a:solidFill>
                <a:schemeClr val="lt1"/>
              </a:solidFill>
              <a:latin typeface="Roboto Condensed ExtraBold"/>
              <a:ea typeface="Roboto Condensed ExtraBold"/>
              <a:cs typeface="Roboto Condensed ExtraBold"/>
            </a:endParaRPr>
          </a:p>
        </p:txBody>
      </p:sp>
      <p:sp>
        <p:nvSpPr>
          <p:cNvPr id="3" name="Google Shape;24;g11a88963fa4_0_0">
            <a:extLst>
              <a:ext uri="{FF2B5EF4-FFF2-40B4-BE49-F238E27FC236}">
                <a16:creationId xmlns:a16="http://schemas.microsoft.com/office/drawing/2014/main" id="{C941C77A-29DC-44D1-B3E6-934B3EF22311}"/>
              </a:ext>
            </a:extLst>
          </p:cNvPr>
          <p:cNvSpPr txBox="1"/>
          <p:nvPr/>
        </p:nvSpPr>
        <p:spPr>
          <a:xfrm>
            <a:off x="957945" y="3409407"/>
            <a:ext cx="43107427" cy="252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lang="en-US" sz="11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Agents for Bioinformatics</a:t>
            </a:r>
            <a:endParaRPr sz="24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SzPts val="3600"/>
            </a:pP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Team members: 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Carter Struck,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Ozi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Jawad, Mack Hicks, Sona James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Faculty adviser: 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Ph.D.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Partner: 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VCU College of Engineering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Mentor: 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Ph.D</a:t>
            </a:r>
            <a:r>
              <a:rPr lang="en-US" sz="4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48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C56511-4C4D-531B-5BF2-6B0E17F4A68B}"/>
              </a:ext>
            </a:extLst>
          </p:cNvPr>
          <p:cNvSpPr txBox="1"/>
          <p:nvPr/>
        </p:nvSpPr>
        <p:spPr>
          <a:xfrm>
            <a:off x="957945" y="7926787"/>
            <a:ext cx="13961655" cy="8956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Professionals in medicine, forensics, and pharmacology increasingly need to extract insights from genomic data, but doing so requires specialized bioinformatics training and programming expertise they do not have.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Existing tools like </a:t>
            </a:r>
            <a:r>
              <a:rPr lang="en-US" sz="3600" dirty="0" err="1"/>
              <a:t>Biopython</a:t>
            </a:r>
            <a:r>
              <a:rPr lang="en-US" sz="3600" dirty="0"/>
              <a:t> and </a:t>
            </a:r>
            <a:r>
              <a:rPr lang="en-US" sz="3600" dirty="0" err="1"/>
              <a:t>Bioperl</a:t>
            </a:r>
            <a:r>
              <a:rPr lang="en-US" sz="3600" dirty="0"/>
              <a:t> still demand manual setup and coding knowledge, leaving no private AI-driven solution for users who understand their data but cannot write analysis scripts from scratch.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We developed a multi-agent AI system that allows users to provide a genomic dataset and describe their analysis goal in plain English. This system automatically generates, debugs, and executes Python code, returning clear and interpretable results.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The system supports standard genomic file formats, and aims to reduce the time required to go from raw data to actionable insight by at least 50% compared to traditional bioinformatic workflows that depend on a specialist.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0D06EC-5F06-CF91-5ECD-58426E66E0C1}"/>
              </a:ext>
            </a:extLst>
          </p:cNvPr>
          <p:cNvSpPr txBox="1"/>
          <p:nvPr/>
        </p:nvSpPr>
        <p:spPr>
          <a:xfrm>
            <a:off x="15404831" y="7801110"/>
            <a:ext cx="12482698" cy="45243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Model must run on a single NVDIA A100 GPU 40GB VRAM provided by VCU.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LLMs capped at 20 billion parameters to fit in memory.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Open Source, permissively license models only.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Autonomously generate, debug, and re-attempt code up to 3 times.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Handle FASTA, VCF, and CSV/TSV without data loss.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Analyses must complete in minutes, not hours.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E59F9B-BB0D-15FA-4B88-666400FC6A86}"/>
              </a:ext>
            </a:extLst>
          </p:cNvPr>
          <p:cNvSpPr txBox="1"/>
          <p:nvPr/>
        </p:nvSpPr>
        <p:spPr>
          <a:xfrm>
            <a:off x="15404831" y="13761937"/>
            <a:ext cx="12638290" cy="529375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Llama 3.1 Pro Coder (8B parameters) powers bot the Writer and Coder agents.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One model, simpler deployment, lower memory footprint.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NF4 4-bit quantization via </a:t>
            </a:r>
            <a:r>
              <a:rPr lang="en-US" sz="3600" dirty="0" err="1"/>
              <a:t>BitsAndBytes</a:t>
            </a:r>
            <a:r>
              <a:rPr lang="en-US" sz="3600" dirty="0"/>
              <a:t> cuts memory usage ~75%.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Python as the target language for its dominance in bioinformatics (</a:t>
            </a:r>
            <a:r>
              <a:rPr lang="en-US" sz="3600" dirty="0" err="1"/>
              <a:t>Biopython</a:t>
            </a:r>
            <a:r>
              <a:rPr lang="en-US" sz="3600" dirty="0"/>
              <a:t>, pandas, NumPy).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All generated code runs in an isolated sandbox with its own virtual environment.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4BE3CFA-C696-2DC5-8DFE-474469302A6E}"/>
              </a:ext>
            </a:extLst>
          </p:cNvPr>
          <p:cNvCxnSpPr>
            <a:cxnSpLocks/>
          </p:cNvCxnSpPr>
          <p:nvPr/>
        </p:nvCxnSpPr>
        <p:spPr>
          <a:xfrm flipH="1">
            <a:off x="14781052" y="6383867"/>
            <a:ext cx="107491" cy="244009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1EF6C07-B31A-2E45-14DB-E6DC358389D4}"/>
              </a:ext>
            </a:extLst>
          </p:cNvPr>
          <p:cNvSpPr/>
          <p:nvPr/>
        </p:nvSpPr>
        <p:spPr>
          <a:xfrm>
            <a:off x="957945" y="6603896"/>
            <a:ext cx="13271549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Problem &amp; Objective</a:t>
            </a:r>
            <a:endParaRPr lang="en-US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78BBEEA-B1CB-7B61-87EC-1374D17499ED}"/>
              </a:ext>
            </a:extLst>
          </p:cNvPr>
          <p:cNvCxnSpPr>
            <a:cxnSpLocks/>
          </p:cNvCxnSpPr>
          <p:nvPr/>
        </p:nvCxnSpPr>
        <p:spPr>
          <a:xfrm>
            <a:off x="957945" y="6383867"/>
            <a:ext cx="41590230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B6D0E2B-869A-4F89-F263-764C5C88E597}"/>
              </a:ext>
            </a:extLst>
          </p:cNvPr>
          <p:cNvSpPr/>
          <p:nvPr/>
        </p:nvSpPr>
        <p:spPr>
          <a:xfrm>
            <a:off x="15404834" y="6493509"/>
            <a:ext cx="12482695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/>
              <a:t>Design Constraints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C83E0FE-5398-C646-AC68-70928A1FD1BB}"/>
              </a:ext>
            </a:extLst>
          </p:cNvPr>
          <p:cNvSpPr/>
          <p:nvPr/>
        </p:nvSpPr>
        <p:spPr>
          <a:xfrm>
            <a:off x="15404831" y="12435066"/>
            <a:ext cx="12431218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/>
              <a:t>Implementation Choices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438BAC7C-D618-2350-98C7-C618FD7A9910}"/>
              </a:ext>
            </a:extLst>
          </p:cNvPr>
          <p:cNvSpPr/>
          <p:nvPr/>
        </p:nvSpPr>
        <p:spPr>
          <a:xfrm>
            <a:off x="1231630" y="17344912"/>
            <a:ext cx="12997864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/>
              <a:t>Final Design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C48E9B7C-FFB7-2D6F-2996-5DE799C26BBB}"/>
              </a:ext>
            </a:extLst>
          </p:cNvPr>
          <p:cNvSpPr/>
          <p:nvPr/>
        </p:nvSpPr>
        <p:spPr>
          <a:xfrm>
            <a:off x="28324617" y="6664089"/>
            <a:ext cx="14194983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/>
              <a:t>Example System Execution 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E5BD08A-D0B8-957C-B30B-66C8C2D0F74A}"/>
              </a:ext>
            </a:extLst>
          </p:cNvPr>
          <p:cNvCxnSpPr>
            <a:cxnSpLocks/>
          </p:cNvCxnSpPr>
          <p:nvPr/>
        </p:nvCxnSpPr>
        <p:spPr>
          <a:xfrm flipH="1">
            <a:off x="28004643" y="6383867"/>
            <a:ext cx="164380" cy="244009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BE3FC3E-1A02-432F-7AFF-BE4FF9B5E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1630" y="19039312"/>
            <a:ext cx="11783864" cy="10713179"/>
          </a:xfrm>
          <a:prstGeom prst="rect">
            <a:avLst/>
          </a:prstGeom>
        </p:spPr>
      </p:pic>
      <p:sp>
        <p:nvSpPr>
          <p:cNvPr id="18" name="Rounded Rectangle 23">
            <a:extLst>
              <a:ext uri="{FF2B5EF4-FFF2-40B4-BE49-F238E27FC236}">
                <a16:creationId xmlns:a16="http://schemas.microsoft.com/office/drawing/2014/main" id="{6C2E6136-EBD0-91EF-F49C-73CA96D75E65}"/>
              </a:ext>
            </a:extLst>
          </p:cNvPr>
          <p:cNvSpPr/>
          <p:nvPr/>
        </p:nvSpPr>
        <p:spPr>
          <a:xfrm>
            <a:off x="15373772" y="18764666"/>
            <a:ext cx="12431218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/>
              <a:t>Limitations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998D33-F1B4-729D-C6A8-051FDA508249}"/>
              </a:ext>
            </a:extLst>
          </p:cNvPr>
          <p:cNvSpPr txBox="1"/>
          <p:nvPr/>
        </p:nvSpPr>
        <p:spPr>
          <a:xfrm>
            <a:off x="15311655" y="20031357"/>
            <a:ext cx="12493335" cy="618630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Only Supports FASTA, VCF, and CSV/TSV – no FASTQ or BAM files.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The LLM may generate incorrect code that passes execution but produces biologically wrong results – always verify outputs.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Limited to single-file inputs; multi-file or pipeline workflows are not supported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Large datasets may exceed memory or cause long runtimes.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Analyses are limited to what Python libraries can accomplish in a single script.</a:t>
            </a:r>
            <a:endParaRPr lang="en-US" dirty="0"/>
          </a:p>
        </p:txBody>
      </p:sp>
      <p:sp>
        <p:nvSpPr>
          <p:cNvPr id="25" name="Rounded Rectangle 23">
            <a:extLst>
              <a:ext uri="{FF2B5EF4-FFF2-40B4-BE49-F238E27FC236}">
                <a16:creationId xmlns:a16="http://schemas.microsoft.com/office/drawing/2014/main" id="{177E1F27-3575-1993-1ED9-7936CC66779B}"/>
              </a:ext>
            </a:extLst>
          </p:cNvPr>
          <p:cNvSpPr/>
          <p:nvPr/>
        </p:nvSpPr>
        <p:spPr>
          <a:xfrm>
            <a:off x="15265753" y="26360957"/>
            <a:ext cx="12431218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/>
              <a:t>How to run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995B24-3B2C-9CCA-E427-E4123DF00A34}"/>
              </a:ext>
            </a:extLst>
          </p:cNvPr>
          <p:cNvSpPr txBox="1"/>
          <p:nvPr/>
        </p:nvSpPr>
        <p:spPr>
          <a:xfrm>
            <a:off x="15234695" y="27661298"/>
            <a:ext cx="12493335" cy="286232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Place your data file in the input/ folder and run:                      python3 main.py input/&lt;</a:t>
            </a:r>
            <a:r>
              <a:rPr lang="en-US" sz="3600" dirty="0" err="1"/>
              <a:t>your_file</a:t>
            </a:r>
            <a:r>
              <a:rPr lang="en-US" sz="3600" dirty="0"/>
              <a:t>&gt;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Select a preset analysis or describe or own.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Results display in the terminal and the generate script saves to output/solution.py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</TotalTime>
  <Words>807</Words>
  <Application>Microsoft Office PowerPoint</Application>
  <PresentationFormat>Custom</PresentationFormat>
  <Paragraphs>82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Roboto Condensed ExtraBold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slide deck template</dc:title>
  <dc:creator>Bradley Nichols</dc:creator>
  <cp:lastModifiedBy>Carter Struck</cp:lastModifiedBy>
  <cp:revision>151</cp:revision>
  <dcterms:modified xsi:type="dcterms:W3CDTF">2026-03-27T15:12:55Z</dcterms:modified>
</cp:coreProperties>
</file>