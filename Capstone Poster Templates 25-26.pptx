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9" r:id="rId3"/>
  </p:sldIdLst>
  <p:sldSz cx="43891200" cy="32918400"/>
  <p:notesSz cx="7102475" cy="9388475"/>
  <p:embeddedFontLst>
    <p:embeddedFont>
      <p:font typeface="Roboto" panose="02000000000000000000" pitchFamily="2" charset="0"/>
      <p:regular r:id="rId5"/>
      <p:bold r:id="rId6"/>
      <p:italic r:id="rId7"/>
      <p:boldItalic r:id="rId8"/>
    </p:embeddedFont>
    <p:embeddedFont>
      <p:font typeface="Roboto Condensed ExtraBold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4">
          <p15:clr>
            <a:srgbClr val="747775"/>
          </p15:clr>
        </p15:guide>
        <p15:guide id="2" pos="24336">
          <p15:clr>
            <a:srgbClr val="747775"/>
          </p15:clr>
        </p15:guide>
        <p15:guide id="3" pos="246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2"/>
  </p:normalViewPr>
  <p:slideViewPr>
    <p:cSldViewPr snapToGrid="0">
      <p:cViewPr>
        <p:scale>
          <a:sx n="10" d="100"/>
          <a:sy n="10" d="100"/>
        </p:scale>
        <p:origin x="2100" y="504"/>
      </p:cViewPr>
      <p:guideLst>
        <p:guide orient="horz" pos="1224"/>
        <p:guide pos="24336"/>
        <p:guide pos="246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42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94213" rIns="94213" bIns="94213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c7d51fe0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c7d51fe05_0_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c7d51fe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c7d51fe05_0_6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2pPr>
            <a:lvl3pPr marL="1371600" lvl="2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3pPr>
            <a:lvl4pPr marL="1828800" lvl="3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4pPr>
            <a:lvl5pPr marL="2286000" lvl="4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5pPr>
            <a:lvl6pPr marL="2743200" lvl="5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6pPr>
            <a:lvl7pPr marL="3200400" lvl="6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7pPr>
            <a:lvl8pPr marL="3657600" lvl="7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8pPr>
            <a:lvl9pPr marL="4114800" lvl="8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r">
              <a:buNone/>
              <a:defRPr sz="5333">
                <a:solidFill>
                  <a:schemeClr val="dk2"/>
                </a:solidFill>
              </a:defRPr>
            </a:lvl1pPr>
            <a:lvl2pPr lvl="1" algn="r">
              <a:buNone/>
              <a:defRPr sz="5333">
                <a:solidFill>
                  <a:schemeClr val="dk2"/>
                </a:solidFill>
              </a:defRPr>
            </a:lvl2pPr>
            <a:lvl3pPr lvl="2" algn="r">
              <a:buNone/>
              <a:defRPr sz="5333">
                <a:solidFill>
                  <a:schemeClr val="dk2"/>
                </a:solidFill>
              </a:defRPr>
            </a:lvl3pPr>
            <a:lvl4pPr lvl="3" algn="r">
              <a:buNone/>
              <a:defRPr sz="5333">
                <a:solidFill>
                  <a:schemeClr val="dk2"/>
                </a:solidFill>
              </a:defRPr>
            </a:lvl4pPr>
            <a:lvl5pPr lvl="4" algn="r">
              <a:buNone/>
              <a:defRPr sz="5333">
                <a:solidFill>
                  <a:schemeClr val="dk2"/>
                </a:solidFill>
              </a:defRPr>
            </a:lvl5pPr>
            <a:lvl6pPr lvl="5" algn="r">
              <a:buNone/>
              <a:defRPr sz="5333">
                <a:solidFill>
                  <a:schemeClr val="dk2"/>
                </a:solidFill>
              </a:defRPr>
            </a:lvl6pPr>
            <a:lvl7pPr lvl="6" algn="r">
              <a:buNone/>
              <a:defRPr sz="5333">
                <a:solidFill>
                  <a:schemeClr val="dk2"/>
                </a:solidFill>
              </a:defRPr>
            </a:lvl7pPr>
            <a:lvl8pPr lvl="7" algn="r">
              <a:buNone/>
              <a:defRPr sz="5333">
                <a:solidFill>
                  <a:schemeClr val="dk2"/>
                </a:solidFill>
              </a:defRPr>
            </a:lvl8pPr>
            <a:lvl9pPr lvl="8" algn="r">
              <a:buNone/>
              <a:defRPr sz="5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How to use this slide deck template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 fontScale="92500" lnSpcReduction="20000"/>
          </a:bodyPr>
          <a:lstStyle/>
          <a:p>
            <a:pPr marL="457200" lvl="0" indent="-838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oboto"/>
              <a:buChar char="●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Make a copy of this document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838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oboto"/>
              <a:buChar char="●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Edit the appropriate slide for your department’s project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838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oboto"/>
              <a:buChar char="●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Edit the year and project number in the top right corner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70273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Font typeface="Roboto"/>
              <a:buChar char="○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Font family is “Roboto Condensed - Extra Bold”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70273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Font typeface="Roboto"/>
              <a:buChar char="○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Font size is 100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838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oboto"/>
              <a:buChar char="●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the guides to properly align your department number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70273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Font typeface="Roboto"/>
              <a:buChar char="○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display guides, go to “View &gt; Guides &gt; Show guides”</a:t>
            </a:r>
          </a:p>
          <a:p>
            <a:pPr marL="457200" marR="0" lvl="0" indent="-838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Roboto"/>
              <a:buChar char="●"/>
              <a:tabLst/>
              <a:defRPr/>
            </a:pPr>
            <a:r>
              <a:rPr kumimoji="0" 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Use the guidelines provided in Canvas to build your poster.  There are many examples on display on the 4</a:t>
            </a:r>
            <a:r>
              <a:rPr kumimoji="0" lang="en-US" sz="96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kumimoji="0" 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 floor of East Hall as well.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9090592" y="884691"/>
            <a:ext cx="48066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0000">
                <a:solidFill>
                  <a:schemeClr val="lt1"/>
                </a:solidFill>
                <a:latin typeface="Roboto Condensed ExtraBold"/>
                <a:ea typeface="Roboto Condensed ExtraBold"/>
                <a:cs typeface="Roboto Condensed ExtraBold"/>
                <a:sym typeface="Roboto Condensed ExtraBold"/>
              </a:rPr>
              <a:t>26-101</a:t>
            </a:r>
            <a:endParaRPr sz="10000">
              <a:solidFill>
                <a:schemeClr val="lt1"/>
              </a:solidFill>
              <a:latin typeface="Roboto Condensed ExtraBold"/>
              <a:ea typeface="Roboto Condensed ExtraBold"/>
              <a:cs typeface="Roboto Condensed ExtraBold"/>
              <a:sym typeface="Roboto Condensed ExtraBold"/>
            </a:endParaRPr>
          </a:p>
        </p:txBody>
      </p:sp>
      <p:sp>
        <p:nvSpPr>
          <p:cNvPr id="3" name="Google Shape;24;g11a88963fa4_0_0">
            <a:extLst>
              <a:ext uri="{FF2B5EF4-FFF2-40B4-BE49-F238E27FC236}">
                <a16:creationId xmlns:a16="http://schemas.microsoft.com/office/drawing/2014/main" id="{C941C77A-29DC-44D1-B3E6-934B3EF22311}"/>
              </a:ext>
            </a:extLst>
          </p:cNvPr>
          <p:cNvSpPr txBox="1"/>
          <p:nvPr/>
        </p:nvSpPr>
        <p:spPr>
          <a:xfrm>
            <a:off x="957945" y="3409407"/>
            <a:ext cx="43107427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Agents for Bioinformatics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3600"/>
            </a:pP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Team members: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Ozi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Jawad, Carter Struck, Mack Hicks, Sona James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Faculty adviser: </a:t>
            </a:r>
            <a:r>
              <a:rPr lang="en-US" sz="3600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</a:t>
            </a:r>
            <a:r>
              <a:rPr lang="en-US" sz="3600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Arodz</a:t>
            </a:r>
            <a:r>
              <a:rPr lang="en-US" sz="3600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Ph.D.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Partner: 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VCU College of Engineering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Mentor: 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Arodz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Ph.D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56511-4C4D-531B-5BF2-6B0E17F4A68B}"/>
              </a:ext>
            </a:extLst>
          </p:cNvPr>
          <p:cNvSpPr txBox="1"/>
          <p:nvPr/>
        </p:nvSpPr>
        <p:spPr>
          <a:xfrm>
            <a:off x="1320800" y="6702576"/>
            <a:ext cx="11429568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Objective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Develop a functional multi-agent AI system using open-source large language models (LLMs) capable of processing, coding, and interpreting genomic datasets.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Design and implement an AI-based tool that can automatically generate and execute Python code for bioinformatic tasks.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Deliver accurate and reliable solutions generated by the AI system.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 time required to process and interpret data by 50% compared to traditional bioinformatic workflows.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FFED9C-0D6A-AF0D-00C8-0F6D0489D213}"/>
              </a:ext>
            </a:extLst>
          </p:cNvPr>
          <p:cNvSpPr txBox="1"/>
          <p:nvPr/>
        </p:nvSpPr>
        <p:spPr>
          <a:xfrm>
            <a:off x="1320800" y="15320319"/>
            <a:ext cx="1142956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Problem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problem is the complexity of current bioinformatic tasks dealing with large datasets.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 The goal of the agent is to simplify this process for non-bioinformaticians working on genomic datasets that often require a bioinformatician to decipher.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To solve this problem, we propose a multi-agent AI system capable of reading genomic data, analyzing it, and producing useful and understandable insights.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D06EC-5F06-CF91-5ECD-58426E66E0C1}"/>
              </a:ext>
            </a:extLst>
          </p:cNvPr>
          <p:cNvSpPr txBox="1"/>
          <p:nvPr/>
        </p:nvSpPr>
        <p:spPr>
          <a:xfrm>
            <a:off x="29411261" y="7417391"/>
            <a:ext cx="1113608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Design Constraints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Modal Must run on NVDIA A100 40GB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LLMs parameter sizes limited to 20 Billion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Open Source LLMs only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No Chinese LLMs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Reasonable completion speed for output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Agents must debug and produce runnable python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E59F9B-BB0D-15FA-4B88-666400FC6A86}"/>
              </a:ext>
            </a:extLst>
          </p:cNvPr>
          <p:cNvSpPr txBox="1"/>
          <p:nvPr/>
        </p:nvSpPr>
        <p:spPr>
          <a:xfrm>
            <a:off x="29411260" y="13972523"/>
            <a:ext cx="11593286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Design Choices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We have chosen </a:t>
            </a:r>
            <a:r>
              <a:rPr lang="en-US" sz="3600" dirty="0" err="1"/>
              <a:t>StarCoder</a:t>
            </a:r>
            <a:r>
              <a:rPr lang="en-US" sz="3600" dirty="0"/>
              <a:t> for both the writing and the coding agents for system design purposes.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This choice was made to ensure prototype alignment and reduce the system’s complexity while designing and testing the overall workflow of the system.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Before testing other LLMs for our specified purposes, implementing the system with a single LLM allows us to build a robust system that links the two types of LLMs needed for our project’s purposes before attempting to try it on other LLMs.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A4FEF2-FD39-37AB-A794-889FEEEB99A6}"/>
              </a:ext>
            </a:extLst>
          </p:cNvPr>
          <p:cNvSpPr txBox="1"/>
          <p:nvPr/>
        </p:nvSpPr>
        <p:spPr>
          <a:xfrm>
            <a:off x="15512771" y="6999183"/>
            <a:ext cx="11429568" cy="13018949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Example Input Output</a:t>
            </a:r>
          </a:p>
          <a:p>
            <a:pPr algn="ctr"/>
            <a:r>
              <a:rPr lang="en-US" sz="2800" dirty="0"/>
              <a:t>Prompt: </a:t>
            </a:r>
            <a:r>
              <a:rPr lang="en-US" sz="2800" b="1" dirty="0"/>
              <a:t>Write a Python function that calculates the GC content given a DNA sequence.</a:t>
            </a:r>
          </a:p>
          <a:p>
            <a:r>
              <a:rPr lang="en-US" sz="2800" dirty="0"/>
              <a:t>def </a:t>
            </a:r>
            <a:r>
              <a:rPr lang="en-US" sz="2800" dirty="0" err="1"/>
              <a:t>gc_content</a:t>
            </a:r>
            <a:r>
              <a:rPr lang="en-US" sz="2800" dirty="0"/>
              <a:t>(seq):</a:t>
            </a:r>
            <a:br>
              <a:rPr lang="en-US" sz="2800" dirty="0"/>
            </a:br>
            <a:r>
              <a:rPr lang="en-US" sz="2800" dirty="0"/>
              <a:t>    # START_OF_FUNCTION</a:t>
            </a:r>
            <a:br>
              <a:rPr lang="en-US" sz="2800" dirty="0"/>
            </a:br>
            <a:r>
              <a:rPr lang="en-US" sz="2800" dirty="0"/>
              <a:t>    count = 0</a:t>
            </a:r>
            <a:br>
              <a:rPr lang="en-US" sz="2800" dirty="0"/>
            </a:br>
            <a:r>
              <a:rPr lang="en-US" sz="2800" dirty="0"/>
              <a:t>    for </a:t>
            </a:r>
            <a:r>
              <a:rPr lang="en-US" sz="2800" dirty="0" err="1"/>
              <a:t>i</a:t>
            </a:r>
            <a:r>
              <a:rPr lang="en-US" sz="2800" dirty="0"/>
              <a:t> in seq:</a:t>
            </a:r>
            <a:br>
              <a:rPr lang="en-US" sz="2800" dirty="0"/>
            </a:br>
            <a:r>
              <a:rPr lang="en-US" sz="2800" dirty="0"/>
              <a:t>        if </a:t>
            </a:r>
            <a:r>
              <a:rPr lang="en-US" sz="2800" dirty="0" err="1"/>
              <a:t>i</a:t>
            </a:r>
            <a:r>
              <a:rPr lang="en-US" sz="2800" dirty="0"/>
              <a:t> == "G" or </a:t>
            </a:r>
            <a:r>
              <a:rPr lang="en-US" sz="2800" dirty="0" err="1"/>
              <a:t>i</a:t>
            </a:r>
            <a:r>
              <a:rPr lang="en-US" sz="2800" dirty="0"/>
              <a:t> == "C":</a:t>
            </a:r>
            <a:br>
              <a:rPr lang="en-US" sz="2800" dirty="0"/>
            </a:br>
            <a:r>
              <a:rPr lang="en-US" sz="2800" dirty="0"/>
              <a:t>            count += 1</a:t>
            </a:r>
            <a:br>
              <a:rPr lang="en-US" sz="2800" dirty="0"/>
            </a:br>
            <a:r>
              <a:rPr lang="en-US" sz="2800" dirty="0"/>
              <a:t>    return count / </a:t>
            </a:r>
            <a:r>
              <a:rPr lang="en-US" sz="2800" dirty="0" err="1"/>
              <a:t>len</a:t>
            </a:r>
            <a:r>
              <a:rPr lang="en-US" sz="2800" dirty="0"/>
              <a:t>(seq) * 100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# End the function after implementation with marker</a:t>
            </a:r>
            <a:br>
              <a:rPr lang="en-US" sz="2800" dirty="0"/>
            </a:br>
            <a:r>
              <a:rPr lang="en-US" sz="2800" dirty="0"/>
              <a:t># END_OF_FUNCTION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# Example DNA sequences to test the function</a:t>
            </a:r>
            <a:br>
              <a:rPr lang="en-US" sz="2800" dirty="0"/>
            </a:br>
            <a:r>
              <a:rPr lang="en-US" sz="2800" dirty="0"/>
              <a:t>dna1 = "ATGCGC"</a:t>
            </a:r>
            <a:br>
              <a:rPr lang="en-US" sz="2800" dirty="0"/>
            </a:br>
            <a:r>
              <a:rPr lang="en-US" sz="2800" dirty="0"/>
              <a:t>dna2 = "ATATAT"</a:t>
            </a:r>
            <a:br>
              <a:rPr lang="en-US" sz="2800" dirty="0"/>
            </a:br>
            <a:r>
              <a:rPr lang="en-US" sz="2800" dirty="0"/>
              <a:t>dna3 = "GGCCGGCC"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# Test the function</a:t>
            </a:r>
            <a:br>
              <a:rPr lang="en-US" sz="2800" dirty="0"/>
            </a:br>
            <a:r>
              <a:rPr lang="en-US" sz="2800" dirty="0"/>
              <a:t>print(</a:t>
            </a:r>
            <a:r>
              <a:rPr lang="en-US" sz="2800" dirty="0" err="1"/>
              <a:t>f"GC</a:t>
            </a:r>
            <a:r>
              <a:rPr lang="en-US" sz="2800" dirty="0"/>
              <a:t> content of {dna1}: {</a:t>
            </a:r>
            <a:r>
              <a:rPr lang="en-US" sz="2800" dirty="0" err="1"/>
              <a:t>gc_content</a:t>
            </a:r>
            <a:r>
              <a:rPr lang="en-US" sz="2800" dirty="0"/>
              <a:t>(dna1):.2f}%")</a:t>
            </a:r>
            <a:br>
              <a:rPr lang="en-US" sz="2800" dirty="0"/>
            </a:br>
            <a:r>
              <a:rPr lang="en-US" sz="2800" dirty="0"/>
              <a:t>print(</a:t>
            </a:r>
            <a:r>
              <a:rPr lang="en-US" sz="2800" dirty="0" err="1"/>
              <a:t>f"GC</a:t>
            </a:r>
            <a:r>
              <a:rPr lang="en-US" sz="2800" dirty="0"/>
              <a:t> content of {dna2}: {</a:t>
            </a:r>
            <a:r>
              <a:rPr lang="en-US" sz="2800" dirty="0" err="1"/>
              <a:t>gc_content</a:t>
            </a:r>
            <a:r>
              <a:rPr lang="en-US" sz="2800" dirty="0"/>
              <a:t>(dna2):.2f}%")</a:t>
            </a:r>
            <a:br>
              <a:rPr lang="en-US" sz="2800" dirty="0"/>
            </a:br>
            <a:r>
              <a:rPr lang="en-US" sz="2800" dirty="0"/>
              <a:t>print(</a:t>
            </a:r>
            <a:r>
              <a:rPr lang="en-US" sz="2800" dirty="0" err="1"/>
              <a:t>f"GC</a:t>
            </a:r>
            <a:r>
              <a:rPr lang="en-US" sz="2800" dirty="0"/>
              <a:t> content of {dna3}: {</a:t>
            </a:r>
            <a:r>
              <a:rPr lang="en-US" sz="2800" dirty="0" err="1"/>
              <a:t>gc_content</a:t>
            </a:r>
            <a:r>
              <a:rPr lang="en-US" sz="2800" dirty="0"/>
              <a:t>(dna3):.2f}%")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OUTPUT:</a:t>
            </a:r>
          </a:p>
          <a:p>
            <a:pPr algn="ctr"/>
            <a:br>
              <a:rPr lang="en-US" sz="2800" dirty="0"/>
            </a:br>
            <a:r>
              <a:rPr lang="en-US" sz="2800" dirty="0"/>
              <a:t>GC content of ATGCGC: 66.67%</a:t>
            </a:r>
            <a:br>
              <a:rPr lang="en-US" sz="2800" dirty="0"/>
            </a:br>
            <a:r>
              <a:rPr lang="en-US" sz="2800" dirty="0"/>
              <a:t>GC content of ATATAT: 0.00%</a:t>
            </a:r>
            <a:br>
              <a:rPr lang="en-US" sz="2800" dirty="0"/>
            </a:br>
            <a:r>
              <a:rPr lang="en-US" sz="2800" dirty="0"/>
              <a:t>GC content of GGCCGGCC: 100.00%</a:t>
            </a:r>
          </a:p>
        </p:txBody>
      </p:sp>
      <p:pic>
        <p:nvPicPr>
          <p:cNvPr id="4" name="Picture 3" descr="A video game graphics of a video game&#10;&#10;AI-generated content may be incorrect.">
            <a:extLst>
              <a:ext uri="{FF2B5EF4-FFF2-40B4-BE49-F238E27FC236}">
                <a16:creationId xmlns:a16="http://schemas.microsoft.com/office/drawing/2014/main" id="{00DB6384-07C6-E9E4-A2C0-DFDE96EDE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799" y="22806219"/>
            <a:ext cx="18266611" cy="589866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2" name="Picture 11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BB9AC85-43FC-D187-BDCE-060A8E9D67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27281" y="22806219"/>
            <a:ext cx="18266611" cy="589866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620</Words>
  <Application>Microsoft Office PowerPoint</Application>
  <PresentationFormat>Custom</PresentationFormat>
  <Paragraphs>37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Roboto</vt:lpstr>
      <vt:lpstr>Roboto Condensed ExtraBold</vt:lpstr>
      <vt:lpstr>Arial</vt:lpstr>
      <vt:lpstr>Simple Light</vt:lpstr>
      <vt:lpstr>How to use this slide deck template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slide deck template</dc:title>
  <dc:creator>Bradley Nichols</dc:creator>
  <cp:lastModifiedBy>Mack Hicks</cp:lastModifiedBy>
  <cp:revision>9</cp:revision>
  <dcterms:modified xsi:type="dcterms:W3CDTF">2025-11-13T06:27:57Z</dcterms:modified>
</cp:coreProperties>
</file>