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9" r:id="rId3"/>
  </p:sldIdLst>
  <p:sldSz cx="43891200" cy="32918400"/>
  <p:notesSz cx="7102475" cy="9388475"/>
  <p:embeddedFontLst>
    <p:embeddedFont>
      <p:font typeface="Roboto" panose="02000000000000000000" pitchFamily="2" charset="0"/>
      <p:regular r:id="rId5"/>
      <p:bold r:id="rId6"/>
      <p:italic r:id="rId7"/>
      <p:boldItalic r:id="rId8"/>
    </p:embeddedFont>
    <p:embeddedFont>
      <p:font typeface="Roboto Condensed ExtraBold" panose="020B060402020202020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4">
          <p15:clr>
            <a:srgbClr val="747775"/>
          </p15:clr>
        </p15:guide>
        <p15:guide id="2" pos="24336">
          <p15:clr>
            <a:srgbClr val="747775"/>
          </p15:clr>
        </p15:guide>
        <p15:guide id="3" pos="246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961D49-11CB-42AD-AE21-C5FEAB655FEC}" v="3" dt="2025-11-13T17:51:28.192"/>
    <p1510:client id="{B6CE303D-6B7C-4806-AE57-4B232086ED5A}" v="6" dt="2025-11-13T17:45:35.215"/>
    <p1510:client id="{C4815F6D-1D4B-4F27-9EE3-D2A37B638CF1}" v="77" dt="2025-11-13T17:42:49.3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>
      <p:cViewPr>
        <p:scale>
          <a:sx n="10" d="100"/>
          <a:sy n="10" d="100"/>
        </p:scale>
        <p:origin x="2100" y="504"/>
      </p:cViewPr>
      <p:guideLst>
        <p:guide orient="horz" pos="1224"/>
        <p:guide pos="24336"/>
        <p:guide pos="246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font" Target="fonts/font8.fntdata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theme" Target="theme/theme1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4237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13" tIns="94213" rIns="94213" bIns="94213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8c7d51fe0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8c7d51fe05_0_21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8c7d51fe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4913" y="704850"/>
            <a:ext cx="4692650" cy="35194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8c7d51fe05_0_6:notes"/>
          <p:cNvSpPr txBox="1">
            <a:spLocks noGrp="1"/>
          </p:cNvSpPr>
          <p:nvPr>
            <p:ph type="body" idx="1"/>
          </p:nvPr>
        </p:nvSpPr>
        <p:spPr>
          <a:xfrm>
            <a:off x="710248" y="4459526"/>
            <a:ext cx="5681980" cy="4224814"/>
          </a:xfrm>
          <a:prstGeom prst="rect">
            <a:avLst/>
          </a:prstGeom>
        </p:spPr>
        <p:txBody>
          <a:bodyPr spcFirstLastPara="1" wrap="square" lIns="94213" tIns="94213" rIns="94213" bIns="94213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496160" y="13765440"/>
            <a:ext cx="40899000" cy="53874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23195520" y="7375840"/>
            <a:ext cx="191994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1pPr>
            <a:lvl2pPr lvl="1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2pPr>
            <a:lvl3pPr lvl="2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3pPr>
            <a:lvl4pPr lvl="3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4pPr>
            <a:lvl5pPr lvl="4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5pPr>
            <a:lvl6pPr lvl="5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6pPr>
            <a:lvl7pPr lvl="6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7pPr>
            <a:lvl8pPr lvl="7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8pPr>
            <a:lvl9pPr lvl="8">
              <a:spcBef>
                <a:spcPts val="0"/>
              </a:spcBef>
              <a:spcAft>
                <a:spcPts val="0"/>
              </a:spcAft>
              <a:buSzPts val="14933"/>
              <a:buNone/>
              <a:defRPr sz="1493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496160" y="3555840"/>
            <a:ext cx="13478400" cy="483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496160" y="8893440"/>
            <a:ext cx="13478400" cy="203481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marL="914400" lvl="1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marL="1371600" lvl="2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marL="1828800" lvl="3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marL="2286000" lvl="4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marL="2743200" lvl="5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marL="3200400" lvl="6" indent="-6350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marL="3657600" lvl="7" indent="-635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marL="4114800" lvl="8" indent="-6350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2353200" y="2880960"/>
            <a:ext cx="30565500" cy="261810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21945600" y="-800"/>
            <a:ext cx="21945600" cy="3291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87600" tIns="487600" rIns="487600" bIns="4876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274400" y="7892320"/>
            <a:ext cx="19416900" cy="94866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274400" y="17939680"/>
            <a:ext cx="19416900" cy="79047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23709600" y="4634080"/>
            <a:ext cx="18417600" cy="23648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838200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496160" y="27075680"/>
            <a:ext cx="28794300" cy="38727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496160" y="7079200"/>
            <a:ext cx="40899000" cy="12566400"/>
          </a:xfrm>
          <a:prstGeom prst="rect">
            <a:avLst/>
          </a:prstGeom>
        </p:spPr>
        <p:txBody>
          <a:bodyPr spcFirstLastPara="1" wrap="square" lIns="487600" tIns="487600" rIns="487600" bIns="4876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496160" y="20174240"/>
            <a:ext cx="40899000" cy="83250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 sz="9600"/>
            </a:lvl1pPr>
            <a:lvl2pPr marL="914400" lvl="1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2pPr>
            <a:lvl3pPr marL="1371600" lvl="2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3pPr>
            <a:lvl4pPr marL="1828800" lvl="3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4pPr>
            <a:lvl5pPr marL="2286000" lvl="4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5pPr>
            <a:lvl6pPr marL="2743200" lvl="5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6pPr>
            <a:lvl7pPr marL="3200400" lvl="6" indent="-702733" algn="ctr">
              <a:spcBef>
                <a:spcPts val="0"/>
              </a:spcBef>
              <a:spcAft>
                <a:spcPts val="0"/>
              </a:spcAft>
              <a:buSzPts val="7467"/>
              <a:buChar char="●"/>
              <a:defRPr sz="7466"/>
            </a:lvl7pPr>
            <a:lvl8pPr marL="3657600" lvl="7" indent="-702733" algn="ctr">
              <a:spcBef>
                <a:spcPts val="0"/>
              </a:spcBef>
              <a:spcAft>
                <a:spcPts val="0"/>
              </a:spcAft>
              <a:buSzPts val="7467"/>
              <a:buChar char="○"/>
              <a:defRPr sz="7466"/>
            </a:lvl8pPr>
            <a:lvl9pPr marL="4114800" lvl="8" indent="-702733" algn="ctr">
              <a:spcBef>
                <a:spcPts val="0"/>
              </a:spcBef>
              <a:spcAft>
                <a:spcPts val="0"/>
              </a:spcAft>
              <a:buSzPts val="7467"/>
              <a:buChar char="■"/>
              <a:defRPr sz="74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>
              <a:buNone/>
              <a:defRPr sz="5333"/>
            </a:lvl1pPr>
            <a:lvl2pPr lvl="1">
              <a:buNone/>
              <a:defRPr sz="5333"/>
            </a:lvl2pPr>
            <a:lvl3pPr lvl="2">
              <a:buNone/>
              <a:defRPr sz="5333"/>
            </a:lvl3pPr>
            <a:lvl4pPr lvl="3">
              <a:buNone/>
              <a:defRPr sz="5333"/>
            </a:lvl4pPr>
            <a:lvl5pPr lvl="4">
              <a:buNone/>
              <a:defRPr sz="5333"/>
            </a:lvl5pPr>
            <a:lvl6pPr lvl="5">
              <a:buNone/>
              <a:defRPr sz="5333"/>
            </a:lvl6pPr>
            <a:lvl7pPr lvl="6">
              <a:buNone/>
              <a:defRPr sz="5333"/>
            </a:lvl7pPr>
            <a:lvl8pPr lvl="7">
              <a:buNone/>
              <a:defRPr sz="5333"/>
            </a:lvl8pPr>
            <a:lvl9pPr lvl="8">
              <a:buNone/>
              <a:defRPr sz="5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33"/>
              <a:buNone/>
              <a:defRPr sz="149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t" anchorCtr="0">
            <a:normAutofit/>
          </a:bodyPr>
          <a:lstStyle>
            <a:lvl1pPr marL="457200" lvl="0" indent="-838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marL="914400" lvl="1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2pPr>
            <a:lvl3pPr marL="1371600" lvl="2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3pPr>
            <a:lvl4pPr marL="1828800" lvl="3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4pPr>
            <a:lvl5pPr marL="2286000" lvl="4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5pPr>
            <a:lvl6pPr marL="2743200" lvl="5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6pPr>
            <a:lvl7pPr marL="3200400" lvl="6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●"/>
              <a:defRPr sz="7466">
                <a:solidFill>
                  <a:schemeClr val="dk2"/>
                </a:solidFill>
              </a:defRPr>
            </a:lvl7pPr>
            <a:lvl8pPr marL="3657600" lvl="7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○"/>
              <a:defRPr sz="7466">
                <a:solidFill>
                  <a:schemeClr val="dk2"/>
                </a:solidFill>
              </a:defRPr>
            </a:lvl8pPr>
            <a:lvl9pPr marL="4114800" lvl="8" indent="-70273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467"/>
              <a:buChar char="■"/>
              <a:defRPr sz="74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0667798" y="29844588"/>
            <a:ext cx="2633700" cy="25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87600" tIns="487600" rIns="487600" bIns="487600" anchor="ctr" anchorCtr="0">
            <a:normAutofit/>
          </a:bodyPr>
          <a:lstStyle>
            <a:lvl1pPr lvl="0" algn="r">
              <a:buNone/>
              <a:defRPr sz="5333">
                <a:solidFill>
                  <a:schemeClr val="dk2"/>
                </a:solidFill>
              </a:defRPr>
            </a:lvl1pPr>
            <a:lvl2pPr lvl="1" algn="r">
              <a:buNone/>
              <a:defRPr sz="5333">
                <a:solidFill>
                  <a:schemeClr val="dk2"/>
                </a:solidFill>
              </a:defRPr>
            </a:lvl2pPr>
            <a:lvl3pPr lvl="2" algn="r">
              <a:buNone/>
              <a:defRPr sz="5333">
                <a:solidFill>
                  <a:schemeClr val="dk2"/>
                </a:solidFill>
              </a:defRPr>
            </a:lvl3pPr>
            <a:lvl4pPr lvl="3" algn="r">
              <a:buNone/>
              <a:defRPr sz="5333">
                <a:solidFill>
                  <a:schemeClr val="dk2"/>
                </a:solidFill>
              </a:defRPr>
            </a:lvl4pPr>
            <a:lvl5pPr lvl="4" algn="r">
              <a:buNone/>
              <a:defRPr sz="5333">
                <a:solidFill>
                  <a:schemeClr val="dk2"/>
                </a:solidFill>
              </a:defRPr>
            </a:lvl5pPr>
            <a:lvl6pPr lvl="5" algn="r">
              <a:buNone/>
              <a:defRPr sz="5333">
                <a:solidFill>
                  <a:schemeClr val="dk2"/>
                </a:solidFill>
              </a:defRPr>
            </a:lvl6pPr>
            <a:lvl7pPr lvl="6" algn="r">
              <a:buNone/>
              <a:defRPr sz="5333">
                <a:solidFill>
                  <a:schemeClr val="dk2"/>
                </a:solidFill>
              </a:defRPr>
            </a:lvl7pPr>
            <a:lvl8pPr lvl="7" algn="r">
              <a:buNone/>
              <a:defRPr sz="5333">
                <a:solidFill>
                  <a:schemeClr val="dk2"/>
                </a:solidFill>
              </a:defRPr>
            </a:lvl8pPr>
            <a:lvl9pPr lvl="8" algn="r">
              <a:buNone/>
              <a:defRPr sz="5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496160" y="2848160"/>
            <a:ext cx="40899000" cy="36654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FF0000"/>
                </a:solidFill>
              </a:rPr>
              <a:t>How to use this slide deck template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1496160" y="7375840"/>
            <a:ext cx="40899000" cy="21864900"/>
          </a:xfrm>
          <a:prstGeom prst="rect">
            <a:avLst/>
          </a:prstGeom>
        </p:spPr>
        <p:txBody>
          <a:bodyPr spcFirstLastPara="1" wrap="square" lIns="487600" tIns="487600" rIns="487600" bIns="487600" anchor="t" anchorCtr="0">
            <a:normAutofit fontScale="92500" lnSpcReduction="20000"/>
          </a:bodyPr>
          <a:lstStyle/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Make a copy of this document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appropriate slide for your department’s project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Edit the year and project number in the top right corner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family is “Roboto Condensed - Extra Bold”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Font size is 100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838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Roboto"/>
              <a:buChar char="●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the guides to properly align your department number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702733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67"/>
              <a:buFont typeface="Roboto"/>
              <a:buChar char="○"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display guides, go to “View &gt; Guides &gt; Show guides”</a:t>
            </a:r>
          </a:p>
          <a:p>
            <a:pPr marL="457200" marR="0" lvl="0" indent="-8382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Font typeface="Roboto"/>
              <a:buChar char="●"/>
              <a:tabLst/>
              <a:defRPr/>
            </a:pP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Use the guidelines provided in Canvas to build your poster.  There are many examples on display on the 4</a:t>
            </a:r>
            <a:r>
              <a:rPr kumimoji="0" lang="en-US" sz="9600" b="0" i="0" u="none" strike="noStrike" kern="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th</a:t>
            </a:r>
            <a:r>
              <a:rPr kumimoji="0" lang="en-US" sz="9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floor of East Hall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39090592" y="884691"/>
            <a:ext cx="4806600" cy="1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0000" dirty="0">
                <a:solidFill>
                  <a:schemeClr val="lt1"/>
                </a:solidFill>
                <a:latin typeface="Roboto Condensed ExtraBold"/>
                <a:ea typeface="Roboto Condensed ExtraBold"/>
                <a:cs typeface="Roboto Condensed ExtraBold"/>
              </a:rPr>
              <a:t>26-335</a:t>
            </a:r>
          </a:p>
        </p:txBody>
      </p:sp>
      <p:sp>
        <p:nvSpPr>
          <p:cNvPr id="3" name="Google Shape;24;g11a88963fa4_0_0">
            <a:extLst>
              <a:ext uri="{FF2B5EF4-FFF2-40B4-BE49-F238E27FC236}">
                <a16:creationId xmlns:a16="http://schemas.microsoft.com/office/drawing/2014/main" id="{C941C77A-29DC-44D1-B3E6-934B3EF22311}"/>
              </a:ext>
            </a:extLst>
          </p:cNvPr>
          <p:cNvSpPr txBox="1"/>
          <p:nvPr/>
        </p:nvSpPr>
        <p:spPr>
          <a:xfrm>
            <a:off x="957945" y="3409407"/>
            <a:ext cx="43107427" cy="252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lang="en-US" sz="110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Agents for Bioinformatics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buSzPts val="3600"/>
            </a:pP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Team members: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Ozi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Jawad, Carter Struck, Mack Hicks, Sona James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Faculty adviser: 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Ph.D.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Partner: </a:t>
            </a:r>
            <a:r>
              <a:rPr lang="en-US" sz="3600" b="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VCU College of Engineering  |  </a:t>
            </a:r>
            <a:r>
              <a:rPr lang="en-US" sz="3600" b="1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Mentor: 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Tomasz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Arodz</a:t>
            </a:r>
            <a:r>
              <a:rPr lang="en-US" sz="3600" i="0" u="none" strike="noStrike" cap="none" dirty="0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3600" i="0" u="none" strike="noStrike" cap="none" dirty="0" err="1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rPr>
              <a:t>Ph.D</a:t>
            </a:r>
            <a:r>
              <a:rPr lang="en-US" sz="4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4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56511-4C4D-531B-5BF2-6B0E17F4A68B}"/>
              </a:ext>
            </a:extLst>
          </p:cNvPr>
          <p:cNvSpPr txBox="1"/>
          <p:nvPr/>
        </p:nvSpPr>
        <p:spPr>
          <a:xfrm>
            <a:off x="1320800" y="6702576"/>
            <a:ext cx="11429568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Objective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Develop a functional multi-agent AI system using open-source large language models (LLMs) capable of processing, coding, and interpreting genomic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Design and implement an AI-based tool that can automatically generate and execute Python code for bioinformatic tasks.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Deliver accurate and reliable solutions generated by the AI system.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Reduce time required to process and interpret data by 50% compared to traditional bioinformatic workflows.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FFED9C-0D6A-AF0D-00C8-0F6D0489D213}"/>
              </a:ext>
            </a:extLst>
          </p:cNvPr>
          <p:cNvSpPr txBox="1"/>
          <p:nvPr/>
        </p:nvSpPr>
        <p:spPr>
          <a:xfrm>
            <a:off x="1320800" y="15320319"/>
            <a:ext cx="1142956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Problem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The problem is the complexity of current bioinformatic tasks dealing with large datasets.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 The goal of the agent is to simplify this process for non-bioinformaticians working on genomic datasets that often require a bioinformatician to decipher.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To solve this problem, we propose a multi-agent AI system capable of reading genomic data, analyzing it, and producing useful and understandable insights.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0D06EC-5F06-CF91-5ECD-58426E66E0C1}"/>
              </a:ext>
            </a:extLst>
          </p:cNvPr>
          <p:cNvSpPr txBox="1"/>
          <p:nvPr/>
        </p:nvSpPr>
        <p:spPr>
          <a:xfrm>
            <a:off x="29411261" y="7008467"/>
            <a:ext cx="1113608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Constraints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Modal Must run on NVDIA A100 40GB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LLMs parameter sizes limited to 20 Billion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Open Source LLMs only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No Chinese LLMs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Reasonable completion speed for output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/>
              <a:t>Agents must debug and produce runnable python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E59F9B-BB0D-15FA-4B88-666400FC6A86}"/>
              </a:ext>
            </a:extLst>
          </p:cNvPr>
          <p:cNvSpPr txBox="1"/>
          <p:nvPr/>
        </p:nvSpPr>
        <p:spPr>
          <a:xfrm>
            <a:off x="29411260" y="13972523"/>
            <a:ext cx="11593286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Design Choices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We have chosen </a:t>
            </a:r>
            <a:r>
              <a:rPr lang="en-US" sz="3600" dirty="0" err="1"/>
              <a:t>StarCoder</a:t>
            </a:r>
            <a:r>
              <a:rPr lang="en-US" sz="3600" dirty="0"/>
              <a:t> for both the writing and the coding agents for system design purposes.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This choice was made to ensure prototype alignment and reduce the system’s complexity while designing and testing the overall workflow of the system.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Before testing other LLMs for our specified purposes, implementing the system with a single LLM allows us to build a robust system that links the two types of LLMs needed for our project’s purposes before attempting to try it on other LLMs.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A4FEF2-FD39-37AB-A794-889FEEEB99A6}"/>
              </a:ext>
            </a:extLst>
          </p:cNvPr>
          <p:cNvSpPr txBox="1"/>
          <p:nvPr/>
        </p:nvSpPr>
        <p:spPr>
          <a:xfrm>
            <a:off x="15512771" y="6999183"/>
            <a:ext cx="11429568" cy="13018949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/>
              <a:t>Example Input Output</a:t>
            </a:r>
          </a:p>
          <a:p>
            <a:pPr algn="ctr"/>
            <a:r>
              <a:rPr lang="en-US" sz="2800" dirty="0"/>
              <a:t>Prompt: </a:t>
            </a:r>
            <a:r>
              <a:rPr lang="en-US" sz="2800" b="1" dirty="0"/>
              <a:t>Write a Python function that calculates the GC content given a DNA sequence.</a:t>
            </a:r>
          </a:p>
          <a:p>
            <a:r>
              <a:rPr lang="en-US" sz="2800" dirty="0"/>
              <a:t>def </a:t>
            </a:r>
            <a:r>
              <a:rPr lang="en-US" sz="2800" dirty="0" err="1"/>
              <a:t>gc_content</a:t>
            </a:r>
            <a:r>
              <a:rPr lang="en-US" sz="2800" dirty="0"/>
              <a:t>(seq):</a:t>
            </a:r>
            <a:br>
              <a:rPr lang="en-US" sz="2800" dirty="0"/>
            </a:br>
            <a:r>
              <a:rPr lang="en-US" sz="2800" dirty="0"/>
              <a:t>    # START_OF_FUNCTION</a:t>
            </a:r>
            <a:br>
              <a:rPr lang="en-US" sz="2800" dirty="0"/>
            </a:br>
            <a:r>
              <a:rPr lang="en-US" sz="2800" dirty="0"/>
              <a:t>    count = 0</a:t>
            </a:r>
            <a:br>
              <a:rPr lang="en-US" sz="2800" dirty="0"/>
            </a:br>
            <a:r>
              <a:rPr lang="en-US" sz="2800" dirty="0"/>
              <a:t>    for </a:t>
            </a:r>
            <a:r>
              <a:rPr lang="en-US" sz="2800" dirty="0" err="1"/>
              <a:t>i</a:t>
            </a:r>
            <a:r>
              <a:rPr lang="en-US" sz="2800" dirty="0"/>
              <a:t> in seq:</a:t>
            </a:r>
            <a:br>
              <a:rPr lang="en-US" sz="2800" dirty="0"/>
            </a:br>
            <a:r>
              <a:rPr lang="en-US" sz="2800" dirty="0"/>
              <a:t>        if </a:t>
            </a:r>
            <a:r>
              <a:rPr lang="en-US" sz="2800" dirty="0" err="1"/>
              <a:t>i</a:t>
            </a:r>
            <a:r>
              <a:rPr lang="en-US" sz="2800" dirty="0"/>
              <a:t> == "G" or </a:t>
            </a:r>
            <a:r>
              <a:rPr lang="en-US" sz="2800" dirty="0" err="1"/>
              <a:t>i</a:t>
            </a:r>
            <a:r>
              <a:rPr lang="en-US" sz="2800" dirty="0"/>
              <a:t> == "C":</a:t>
            </a:r>
            <a:br>
              <a:rPr lang="en-US" sz="2800" dirty="0"/>
            </a:br>
            <a:r>
              <a:rPr lang="en-US" sz="2800" dirty="0"/>
              <a:t>            count += 1</a:t>
            </a:r>
            <a:br>
              <a:rPr lang="en-US" sz="2800" dirty="0"/>
            </a:br>
            <a:r>
              <a:rPr lang="en-US" sz="2800" dirty="0"/>
              <a:t>    return count / </a:t>
            </a:r>
            <a:r>
              <a:rPr lang="en-US" sz="2800" dirty="0" err="1"/>
              <a:t>len</a:t>
            </a:r>
            <a:r>
              <a:rPr lang="en-US" sz="2800" dirty="0"/>
              <a:t>(seq) * 100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# End the function after implementation with marker</a:t>
            </a:r>
            <a:br>
              <a:rPr lang="en-US" sz="2800" dirty="0"/>
            </a:br>
            <a:r>
              <a:rPr lang="en-US" sz="2800" dirty="0"/>
              <a:t># END_OF_FUNCTION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# Example DNA sequences to test the function</a:t>
            </a:r>
            <a:br>
              <a:rPr lang="en-US" sz="2800" dirty="0"/>
            </a:br>
            <a:r>
              <a:rPr lang="en-US" sz="2800" dirty="0"/>
              <a:t>dna1 = "ATGCGC"</a:t>
            </a:r>
            <a:br>
              <a:rPr lang="en-US" sz="2800" dirty="0"/>
            </a:br>
            <a:r>
              <a:rPr lang="en-US" sz="2800" dirty="0"/>
              <a:t>dna2 = "ATATAT"</a:t>
            </a:r>
            <a:br>
              <a:rPr lang="en-US" sz="2800" dirty="0"/>
            </a:br>
            <a:r>
              <a:rPr lang="en-US" sz="2800" dirty="0"/>
              <a:t>dna3 = "GGCCGGCC"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# Test the function</a:t>
            </a:r>
            <a:br>
              <a:rPr lang="en-US" sz="2800" dirty="0"/>
            </a:br>
            <a:r>
              <a:rPr lang="en-US" sz="2800" dirty="0"/>
              <a:t>print(</a:t>
            </a:r>
            <a:r>
              <a:rPr lang="en-US" sz="2800" dirty="0" err="1"/>
              <a:t>f"GC</a:t>
            </a:r>
            <a:r>
              <a:rPr lang="en-US" sz="2800" dirty="0"/>
              <a:t> content of {dna1}: {</a:t>
            </a:r>
            <a:r>
              <a:rPr lang="en-US" sz="2800" dirty="0" err="1"/>
              <a:t>gc_content</a:t>
            </a:r>
            <a:r>
              <a:rPr lang="en-US" sz="2800" dirty="0"/>
              <a:t>(dna1):.2f}%")</a:t>
            </a:r>
            <a:br>
              <a:rPr lang="en-US" sz="2800" dirty="0"/>
            </a:br>
            <a:r>
              <a:rPr lang="en-US" sz="2800" dirty="0"/>
              <a:t>print(</a:t>
            </a:r>
            <a:r>
              <a:rPr lang="en-US" sz="2800" dirty="0" err="1"/>
              <a:t>f"GC</a:t>
            </a:r>
            <a:r>
              <a:rPr lang="en-US" sz="2800" dirty="0"/>
              <a:t> content of {dna2}: {</a:t>
            </a:r>
            <a:r>
              <a:rPr lang="en-US" sz="2800" dirty="0" err="1"/>
              <a:t>gc_content</a:t>
            </a:r>
            <a:r>
              <a:rPr lang="en-US" sz="2800" dirty="0"/>
              <a:t>(dna2):.2f}%")</a:t>
            </a:r>
            <a:br>
              <a:rPr lang="en-US" sz="2800" dirty="0"/>
            </a:br>
            <a:r>
              <a:rPr lang="en-US" sz="2800" dirty="0"/>
              <a:t>print(</a:t>
            </a:r>
            <a:r>
              <a:rPr lang="en-US" sz="2800" dirty="0" err="1"/>
              <a:t>f"GC</a:t>
            </a:r>
            <a:r>
              <a:rPr lang="en-US" sz="2800" dirty="0"/>
              <a:t> content of {dna3}: {</a:t>
            </a:r>
            <a:r>
              <a:rPr lang="en-US" sz="2800" dirty="0" err="1"/>
              <a:t>gc_content</a:t>
            </a:r>
            <a:r>
              <a:rPr lang="en-US" sz="2800" dirty="0"/>
              <a:t>(dna3):.2f}%")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OUTPUT:</a:t>
            </a:r>
          </a:p>
          <a:p>
            <a:pPr algn="ctr"/>
            <a:br>
              <a:rPr lang="en-US" sz="2800" dirty="0"/>
            </a:br>
            <a:r>
              <a:rPr lang="en-US" sz="2800" dirty="0"/>
              <a:t>GC content of ATGCGC: 66.67%</a:t>
            </a:r>
            <a:br>
              <a:rPr lang="en-US" sz="2800" dirty="0"/>
            </a:br>
            <a:r>
              <a:rPr lang="en-US" sz="2800" dirty="0"/>
              <a:t>GC content of ATATAT: 0.00%</a:t>
            </a:r>
            <a:br>
              <a:rPr lang="en-US" sz="2800" dirty="0"/>
            </a:br>
            <a:r>
              <a:rPr lang="en-US" sz="2800" dirty="0"/>
              <a:t>GC content of GGCCGGCC: 100.00%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330BC0-5C86-85AA-C788-048DE4BC8754}"/>
              </a:ext>
            </a:extLst>
          </p:cNvPr>
          <p:cNvSpPr txBox="1"/>
          <p:nvPr/>
        </p:nvSpPr>
        <p:spPr>
          <a:xfrm>
            <a:off x="30559060" y="21851976"/>
            <a:ext cx="5467676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dirty="0"/>
              <a:t>Goal Design</a:t>
            </a:r>
            <a:endParaRPr lang="en-US" dirty="0"/>
          </a:p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FFB1CA-E567-B7EB-856D-16E3CAFC7F98}"/>
              </a:ext>
            </a:extLst>
          </p:cNvPr>
          <p:cNvSpPr txBox="1"/>
          <p:nvPr/>
        </p:nvSpPr>
        <p:spPr>
          <a:xfrm>
            <a:off x="7864463" y="21851976"/>
            <a:ext cx="5467676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800" b="1" dirty="0"/>
              <a:t>Current Design</a:t>
            </a:r>
            <a:endParaRPr lang="en-US" dirty="0"/>
          </a:p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6BF65B-4F0F-B606-7703-CB284326C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26888" y="22903347"/>
            <a:ext cx="19147890" cy="700563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8300BF-DF68-8118-9A7A-97F9A1C563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6709" y="22896573"/>
            <a:ext cx="19321916" cy="4820954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620</Words>
  <Application>Microsoft Office PowerPoint</Application>
  <PresentationFormat>Custom</PresentationFormat>
  <Paragraphs>37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Simple Light</vt:lpstr>
      <vt:lpstr>How to use this slide deck template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slide deck template</dc:title>
  <dc:creator>Bradley Nichols</dc:creator>
  <cp:lastModifiedBy>Mack Hicks</cp:lastModifiedBy>
  <cp:revision>37</cp:revision>
  <dcterms:modified xsi:type="dcterms:W3CDTF">2025-11-13T17:51:36Z</dcterms:modified>
</cp:coreProperties>
</file>