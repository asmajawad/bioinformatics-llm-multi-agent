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9" r:id="rId3"/>
  </p:sldIdLst>
  <p:sldSz cx="43891200" cy="32918400"/>
  <p:notesSz cx="7102475" cy="9388475"/>
  <p:embeddedFontLst>
    <p:embeddedFont>
      <p:font typeface="Consolas" panose="020B0609020204030204" pitchFamily="49" charset="0"/>
      <p:regular r:id="rId5"/>
      <p:bold r:id="rId6"/>
      <p:italic r:id="rId7"/>
      <p:boldItalic r:id="rId8"/>
    </p:embeddedFon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Condensed ExtraBold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4">
          <p15:clr>
            <a:srgbClr val="747775"/>
          </p15:clr>
        </p15:guide>
        <p15:guide id="2" pos="24336">
          <p15:clr>
            <a:srgbClr val="747775"/>
          </p15:clr>
        </p15:guide>
        <p15:guide id="3" pos="246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CE303D-6B7C-4806-AE57-4B232086ED5A}" v="6" dt="2025-11-13T17:45:35.215"/>
    <p1510:client id="{C4815F6D-1D4B-4F27-9EE3-D2A37B638CF1}" v="77" dt="2025-11-13T17:42:49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6"/>
    <p:restoredTop sz="94627"/>
  </p:normalViewPr>
  <p:slideViewPr>
    <p:cSldViewPr snapToGrid="0">
      <p:cViewPr>
        <p:scale>
          <a:sx n="27" d="100"/>
          <a:sy n="27" d="100"/>
        </p:scale>
        <p:origin x="1624" y="144"/>
      </p:cViewPr>
      <p:guideLst>
        <p:guide orient="horz" pos="1224"/>
        <p:guide pos="24336"/>
        <p:guide pos="246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4237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94213" rIns="94213" bIns="94213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c7d51fe0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2650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c7d51fe05_0_21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c7d51fe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2650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c7d51fe05_0_6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2pPr>
            <a:lvl3pPr marL="1371600" lvl="2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3pPr>
            <a:lvl4pPr marL="1828800" lvl="3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4pPr>
            <a:lvl5pPr marL="2286000" lvl="4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5pPr>
            <a:lvl6pPr marL="2743200" lvl="5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6pPr>
            <a:lvl7pPr marL="3200400" lvl="6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7pPr>
            <a:lvl8pPr marL="3657600" lvl="7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8pPr>
            <a:lvl9pPr marL="4114800" lvl="8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r">
              <a:buNone/>
              <a:defRPr sz="5333">
                <a:solidFill>
                  <a:schemeClr val="dk2"/>
                </a:solidFill>
              </a:defRPr>
            </a:lvl1pPr>
            <a:lvl2pPr lvl="1" algn="r">
              <a:buNone/>
              <a:defRPr sz="5333">
                <a:solidFill>
                  <a:schemeClr val="dk2"/>
                </a:solidFill>
              </a:defRPr>
            </a:lvl2pPr>
            <a:lvl3pPr lvl="2" algn="r">
              <a:buNone/>
              <a:defRPr sz="5333">
                <a:solidFill>
                  <a:schemeClr val="dk2"/>
                </a:solidFill>
              </a:defRPr>
            </a:lvl3pPr>
            <a:lvl4pPr lvl="3" algn="r">
              <a:buNone/>
              <a:defRPr sz="5333">
                <a:solidFill>
                  <a:schemeClr val="dk2"/>
                </a:solidFill>
              </a:defRPr>
            </a:lvl4pPr>
            <a:lvl5pPr lvl="4" algn="r">
              <a:buNone/>
              <a:defRPr sz="5333">
                <a:solidFill>
                  <a:schemeClr val="dk2"/>
                </a:solidFill>
              </a:defRPr>
            </a:lvl5pPr>
            <a:lvl6pPr lvl="5" algn="r">
              <a:buNone/>
              <a:defRPr sz="5333">
                <a:solidFill>
                  <a:schemeClr val="dk2"/>
                </a:solidFill>
              </a:defRPr>
            </a:lvl6pPr>
            <a:lvl7pPr lvl="6" algn="r">
              <a:buNone/>
              <a:defRPr sz="5333">
                <a:solidFill>
                  <a:schemeClr val="dk2"/>
                </a:solidFill>
              </a:defRPr>
            </a:lvl7pPr>
            <a:lvl8pPr lvl="7" algn="r">
              <a:buNone/>
              <a:defRPr sz="5333">
                <a:solidFill>
                  <a:schemeClr val="dk2"/>
                </a:solidFill>
              </a:defRPr>
            </a:lvl8pPr>
            <a:lvl9pPr lvl="8" algn="r">
              <a:buNone/>
              <a:defRPr sz="5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How to use this slide deck template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 fontScale="92500" lnSpcReduction="20000"/>
          </a:bodyPr>
          <a:lstStyle/>
          <a:p>
            <a:pPr marL="457200" lvl="0" indent="-838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oboto"/>
              <a:buChar char="●"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Make a copy of this document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838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oboto"/>
              <a:buChar char="●"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Edit the appropriate slide for your department’s project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838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oboto"/>
              <a:buChar char="●"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Edit the year and project number in the top right corner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70273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Font typeface="Roboto"/>
              <a:buChar char="○"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Font family is “Roboto Condensed - Extra Bold”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70273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Font typeface="Roboto"/>
              <a:buChar char="○"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Font size is 100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838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oboto"/>
              <a:buChar char="●"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the guides to properly align your department number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70273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Font typeface="Roboto"/>
              <a:buChar char="○"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display guides, go to “View &gt; Guides &gt; Show guides”</a:t>
            </a:r>
          </a:p>
          <a:p>
            <a:pPr marL="457200" marR="0" lvl="0" indent="-838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Roboto"/>
              <a:buChar char="●"/>
              <a:tabLst/>
              <a:defRPr/>
            </a:pPr>
            <a:r>
              <a:rPr kumimoji="0" 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Use the guidelines provided in Canvas to build your poster.  There are many examples on display on the 4</a:t>
            </a:r>
            <a:r>
              <a:rPr kumimoji="0" lang="en-US" sz="96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th</a:t>
            </a:r>
            <a:r>
              <a:rPr kumimoji="0" lang="en-US" sz="9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 floor of East Hall as well.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FE07E5-4DC1-376B-C043-2AD7F6C3F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553711"/>
              </p:ext>
            </p:extLst>
          </p:nvPr>
        </p:nvGraphicFramePr>
        <p:xfrm>
          <a:off x="15366030" y="6702576"/>
          <a:ext cx="11429568" cy="14239240"/>
        </p:xfrm>
        <a:graphic>
          <a:graphicData uri="http://schemas.openxmlformats.org/drawingml/2006/table">
            <a:tbl>
              <a:tblPr/>
              <a:tblGrid>
                <a:gridCol w="11429568">
                  <a:extLst>
                    <a:ext uri="{9D8B030D-6E8A-4147-A177-3AD203B41FA5}">
                      <a16:colId xmlns:a16="http://schemas.microsoft.com/office/drawing/2014/main" val="2659221207"/>
                    </a:ext>
                  </a:extLst>
                </a:gridCol>
              </a:tblGrid>
              <a:tr h="13449836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sng" dirty="0"/>
                        <a:t>Example Input and Output</a:t>
                      </a:r>
                    </a:p>
                    <a:p>
                      <a:pPr algn="l"/>
                      <a:r>
                        <a:rPr lang="en-US" sz="2800" dirty="0"/>
                        <a:t>Input Prompt: </a:t>
                      </a:r>
                      <a:r>
                        <a:rPr lang="en-US" sz="2800" b="1" dirty="0"/>
                        <a:t>Write a Python function that calculates the GC content given a DNA sequence.</a:t>
                      </a:r>
                    </a:p>
                    <a:p>
                      <a:pPr algn="l"/>
                      <a:endParaRPr lang="en-US" sz="2800" b="1" dirty="0"/>
                    </a:p>
                    <a:p>
                      <a:pPr algn="l"/>
                      <a:r>
                        <a:rPr lang="en-US" sz="2800" b="0" dirty="0"/>
                        <a:t>Produced Output:</a:t>
                      </a:r>
                    </a:p>
                    <a:p>
                      <a:pPr rtl="0" fontAlgn="t">
                        <a:buNone/>
                      </a:pPr>
                      <a:endParaRPr lang="en-US" sz="1100" b="1" i="0" u="none" strike="noStrike" dirty="0">
                        <a:solidFill>
                          <a:srgbClr val="00193A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1" i="0" u="none" strike="noStrike" dirty="0" err="1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gc_content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(seq):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"""</a:t>
                      </a:r>
                      <a:b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    A function that calculates the GC content given a DNA sequence.</a:t>
                      </a:r>
                      <a:b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    """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START_OF_FUNCTION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count = 0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0" i="0" u="none" strike="noStrike" dirty="0" err="1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seq: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0" i="0" u="none" strike="noStrike" dirty="0" err="1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==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"G"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or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600" b="0" i="0" u="none" strike="noStrike" dirty="0" err="1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==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"C"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count += 1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2600" b="1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 count / </a:t>
                      </a:r>
                      <a:r>
                        <a:rPr lang="en-US" sz="2600" b="0" i="0" u="none" strike="noStrike" dirty="0" err="1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(seq) * 100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End the function after implementation with marker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END_OF_FUNCTION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Example DNA sequences to test the function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dna1 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"ATGCGC"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dna2 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"ATATAT"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dna3 = 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"GGCCGGCC"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738191"/>
                          </a:solidFill>
                          <a:effectLst/>
                          <a:latin typeface="Consolas" panose="020B0609020204030204" pitchFamily="49" charset="0"/>
                        </a:rPr>
                        <a:t># Test the function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print(</a:t>
                      </a:r>
                      <a:r>
                        <a:rPr lang="en-US" sz="2600" b="0" i="0" u="none" strike="noStrike" dirty="0" err="1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f"GC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 content of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{dna1}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2600" b="0" i="0" u="none" strike="noStrike" dirty="0" err="1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gc_content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(dna1):.2f}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%"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print(</a:t>
                      </a:r>
                      <a:r>
                        <a:rPr lang="en-US" sz="2600" b="0" i="0" u="none" strike="noStrike" dirty="0" err="1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f"GC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 content of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{dna2}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2600" b="0" i="0" u="none" strike="noStrike" dirty="0" err="1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gc_content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(dna2):.2f}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%"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b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print(</a:t>
                      </a:r>
                      <a:r>
                        <a:rPr lang="en-US" sz="2600" b="0" i="0" u="none" strike="noStrike" dirty="0" err="1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f"GC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 content of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{dna3}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2600" b="0" i="0" u="none" strike="noStrike" dirty="0" err="1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gc_content</a:t>
                      </a:r>
                      <a:r>
                        <a:rPr lang="en-US" sz="2600" b="0" i="0" u="none" strike="noStrike" dirty="0">
                          <a:solidFill>
                            <a:srgbClr val="4C81C9"/>
                          </a:solidFill>
                          <a:effectLst/>
                          <a:latin typeface="Consolas" panose="020B0609020204030204" pitchFamily="49" charset="0"/>
                        </a:rPr>
                        <a:t>(dna3):.2f}</a:t>
                      </a:r>
                      <a:r>
                        <a:rPr lang="en-US" sz="2600" b="0" i="0" u="none" strike="noStrike" dirty="0">
                          <a:solidFill>
                            <a:srgbClr val="0048AB"/>
                          </a:solidFill>
                          <a:effectLst/>
                          <a:latin typeface="Consolas" panose="020B0609020204030204" pitchFamily="49" charset="0"/>
                        </a:rPr>
                        <a:t>%"</a:t>
                      </a:r>
                      <a:r>
                        <a:rPr lang="en-US" sz="2600" b="0" i="0" u="none" strike="noStrike" dirty="0">
                          <a:solidFill>
                            <a:srgbClr val="00193A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rtl="0" fontAlgn="t">
                        <a:buNone/>
                      </a:pPr>
                      <a:endParaRPr lang="en-US" sz="1100" b="0" i="0" u="none" strike="noStrike" dirty="0">
                        <a:solidFill>
                          <a:srgbClr val="00193A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800" dirty="0"/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dirty="0"/>
                        <a:t>OUTPUT: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dirty="0"/>
                        <a:t>GC content of ATGCGC: 66.67%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GC content of ATATAT: 0.00%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GC content of GGCCGGCC: 100.00%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245067"/>
                  </a:ext>
                </a:extLst>
              </a:tr>
            </a:tbl>
          </a:graphicData>
        </a:graphic>
      </p:graphicFrame>
      <p:sp>
        <p:nvSpPr>
          <p:cNvPr id="71" name="Google Shape;71;p16"/>
          <p:cNvSpPr txBox="1"/>
          <p:nvPr/>
        </p:nvSpPr>
        <p:spPr>
          <a:xfrm>
            <a:off x="39090592" y="884691"/>
            <a:ext cx="48066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80000"/>
              </a:lnSpc>
              <a:buSzPts val="688"/>
            </a:pPr>
            <a:r>
              <a:rPr lang="en" sz="10000" dirty="0">
                <a:solidFill>
                  <a:schemeClr val="lt1"/>
                </a:solidFill>
                <a:latin typeface="Roboto Condensed ExtraBold"/>
                <a:ea typeface="Roboto Condensed ExtraBold"/>
                <a:cs typeface="Roboto Condensed ExtraBold"/>
              </a:rPr>
              <a:t>26-335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lang="en" sz="10000" dirty="0">
              <a:solidFill>
                <a:schemeClr val="lt1"/>
              </a:solidFill>
              <a:latin typeface="Roboto Condensed ExtraBold"/>
              <a:ea typeface="Roboto Condensed ExtraBold"/>
              <a:cs typeface="Roboto Condensed ExtraBold"/>
            </a:endParaRPr>
          </a:p>
        </p:txBody>
      </p:sp>
      <p:sp>
        <p:nvSpPr>
          <p:cNvPr id="3" name="Google Shape;24;g11a88963fa4_0_0">
            <a:extLst>
              <a:ext uri="{FF2B5EF4-FFF2-40B4-BE49-F238E27FC236}">
                <a16:creationId xmlns:a16="http://schemas.microsoft.com/office/drawing/2014/main" id="{C941C77A-29DC-44D1-B3E6-934B3EF22311}"/>
              </a:ext>
            </a:extLst>
          </p:cNvPr>
          <p:cNvSpPr txBox="1"/>
          <p:nvPr/>
        </p:nvSpPr>
        <p:spPr>
          <a:xfrm>
            <a:off x="957945" y="3409407"/>
            <a:ext cx="43107427" cy="25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Agents for Bioinformatics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3600"/>
            </a:pP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Team members: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Ozi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Jawad, Carter Struck, Mack Hicks, Sona James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Faculty adviser: </a:t>
            </a:r>
            <a:r>
              <a:rPr lang="en-US" sz="3600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Tomasz </a:t>
            </a:r>
            <a:r>
              <a:rPr lang="en-US" sz="3600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Arodz</a:t>
            </a:r>
            <a:r>
              <a:rPr lang="en-US" sz="3600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, Ph.D.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Partner: 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VCU College of Engineering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Mentor: 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Tomasz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Arodz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Ph.D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56511-4C4D-531B-5BF2-6B0E17F4A68B}"/>
              </a:ext>
            </a:extLst>
          </p:cNvPr>
          <p:cNvSpPr txBox="1"/>
          <p:nvPr/>
        </p:nvSpPr>
        <p:spPr>
          <a:xfrm>
            <a:off x="1320800" y="6702576"/>
            <a:ext cx="11429568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Objective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Develop a functional multi-agent AI system using open-source large language models (LLMs) capable of processing, coding, and interpreting genomic datasets.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Design and implement an AI-based tool that can automatically generate and execute Python code for bioinformatic tasks.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Deliver accurate and reliable solutions generated by the AI system.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 time required to process and interpret data by 50% compared to traditional bioinformatic workflows.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FFED9C-0D6A-AF0D-00C8-0F6D0489D213}"/>
              </a:ext>
            </a:extLst>
          </p:cNvPr>
          <p:cNvSpPr txBox="1"/>
          <p:nvPr/>
        </p:nvSpPr>
        <p:spPr>
          <a:xfrm>
            <a:off x="1320800" y="15320319"/>
            <a:ext cx="1142956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Problem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Bioinformatic </a:t>
            </a:r>
            <a:r>
              <a:rPr lang="en-US" sz="3600" dirty="0"/>
              <a:t>tasks dealing with large datasets are complex and required domain knowledge.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goal of the agent is to simplify this process for non-bioinformaticians working on genomic datasets that often require a bioinformatician to decipher.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To solve this problem, we propose a multi-agent AI system capable of reading genomic data, analyzing it, and producing useful and understandable insights.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D06EC-5F06-CF91-5ECD-58426E66E0C1}"/>
              </a:ext>
            </a:extLst>
          </p:cNvPr>
          <p:cNvSpPr txBox="1"/>
          <p:nvPr/>
        </p:nvSpPr>
        <p:spPr>
          <a:xfrm>
            <a:off x="29411261" y="7008467"/>
            <a:ext cx="111360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Design Constraints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Model must run on NVDIA A100 40GB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LLMs parameter sizes limited to 20 Billion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Open Source, trustworthy LLMs only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Reasonable completion speed for output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Agents must debug and produce runnable python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E59F9B-BB0D-15FA-4B88-666400FC6A86}"/>
              </a:ext>
            </a:extLst>
          </p:cNvPr>
          <p:cNvSpPr txBox="1"/>
          <p:nvPr/>
        </p:nvSpPr>
        <p:spPr>
          <a:xfrm>
            <a:off x="29411260" y="13972523"/>
            <a:ext cx="11593286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Design Choices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We have chosen </a:t>
            </a:r>
            <a:r>
              <a:rPr lang="en-US" sz="3600" dirty="0" err="1"/>
              <a:t>StarCoder</a:t>
            </a:r>
            <a:r>
              <a:rPr lang="en-US" sz="3600" dirty="0"/>
              <a:t> for both the writing and the coding agents for system prototyping purposes. 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This choice was made to ensure prototype alignment and reduce the system’s complexity while designing and testing the overall workflow of the system. 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Before testing other LLMs for our specified purposes, implementing the system with a single LLM allows us to build a robust system that links the two types of LLMs needed for our project’s purposes before attempting to try it on other LLMs.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330BC0-5C86-85AA-C788-048DE4BC8754}"/>
              </a:ext>
            </a:extLst>
          </p:cNvPr>
          <p:cNvSpPr txBox="1"/>
          <p:nvPr/>
        </p:nvSpPr>
        <p:spPr>
          <a:xfrm>
            <a:off x="30559060" y="21851976"/>
            <a:ext cx="5467676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dirty="0"/>
              <a:t>Final Design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FB1CA-E567-B7EB-856D-16E3CAFC7F98}"/>
              </a:ext>
            </a:extLst>
          </p:cNvPr>
          <p:cNvSpPr txBox="1"/>
          <p:nvPr/>
        </p:nvSpPr>
        <p:spPr>
          <a:xfrm>
            <a:off x="7864463" y="21851976"/>
            <a:ext cx="5467676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dirty="0"/>
              <a:t>Current Prototype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6BF65B-4F0F-B606-7703-CB284326C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6888" y="22903347"/>
            <a:ext cx="19147890" cy="700563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8300BF-DF68-8118-9A7A-97F9A1C56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709" y="22896573"/>
            <a:ext cx="19321916" cy="482095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643</Words>
  <Application>Microsoft Macintosh PowerPoint</Application>
  <PresentationFormat>Custom</PresentationFormat>
  <Paragraphs>44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Roboto</vt:lpstr>
      <vt:lpstr>Consolas</vt:lpstr>
      <vt:lpstr>Roboto Condensed ExtraBold</vt:lpstr>
      <vt:lpstr>Arial</vt:lpstr>
      <vt:lpstr>Simple Light</vt:lpstr>
      <vt:lpstr>How to use this slide deck template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slide deck template</dc:title>
  <dc:creator>Bradley Nichols</dc:creator>
  <cp:lastModifiedBy>Sona James</cp:lastModifiedBy>
  <cp:revision>37</cp:revision>
  <dcterms:modified xsi:type="dcterms:W3CDTF">2025-11-14T20:02:30Z</dcterms:modified>
</cp:coreProperties>
</file>