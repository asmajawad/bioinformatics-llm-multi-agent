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9" r:id="rId2"/>
  </p:sldIdLst>
  <p:sldSz cx="43891200" cy="32918400"/>
  <p:notesSz cx="7102475" cy="9388475"/>
  <p:embeddedFontLst>
    <p:embeddedFont>
      <p:font typeface="Consolas" panose="020B0609020204030204" pitchFamily="49" charset="0"/>
      <p:regular r:id="rId4"/>
      <p:bold r:id="rId5"/>
      <p:italic r:id="rId6"/>
      <p:boldItalic r:id="rId7"/>
    </p:embeddedFont>
    <p:embeddedFont>
      <p:font typeface="Roboto Condensed ExtraBold" panose="020B060402020202020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4">
          <p15:clr>
            <a:srgbClr val="747775"/>
          </p15:clr>
        </p15:guide>
        <p15:guide id="2" pos="24336">
          <p15:clr>
            <a:srgbClr val="747775"/>
          </p15:clr>
        </p15:guide>
        <p15:guide id="3" pos="2462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6"/>
    <p:restoredTop sz="94627"/>
  </p:normalViewPr>
  <p:slideViewPr>
    <p:cSldViewPr snapToGrid="0">
      <p:cViewPr varScale="1">
        <p:scale>
          <a:sx n="32" d="100"/>
          <a:sy n="32" d="100"/>
        </p:scale>
        <p:origin x="2526" y="126"/>
      </p:cViewPr>
      <p:guideLst>
        <p:guide orient="horz" pos="1224"/>
        <p:guide pos="24336"/>
        <p:guide pos="246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04913" y="704850"/>
            <a:ext cx="4694237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94213" rIns="94213" bIns="94213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c7d51fe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4913" y="704850"/>
            <a:ext cx="4692650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c7d51fe05_0_6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496160" y="13765440"/>
            <a:ext cx="40899000" cy="5387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marL="914400" lvl="1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2pPr>
            <a:lvl3pPr marL="1371600" lvl="2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3pPr>
            <a:lvl4pPr marL="1828800" lvl="3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4pPr>
            <a:lvl5pPr marL="2286000" lvl="4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5pPr>
            <a:lvl6pPr marL="2743200" lvl="5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6pPr>
            <a:lvl7pPr marL="3200400" lvl="6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7pPr>
            <a:lvl8pPr marL="3657600" lvl="7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8pPr>
            <a:lvl9pPr marL="4114800" lvl="8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191994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23195520" y="7375840"/>
            <a:ext cx="191994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496160" y="3555840"/>
            <a:ext cx="13478400" cy="48366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1496160" y="8893440"/>
            <a:ext cx="13478400" cy="203481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2353200" y="2880960"/>
            <a:ext cx="30565500" cy="261810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1pPr>
            <a:lvl2pPr lvl="1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2pPr>
            <a:lvl3pPr lvl="2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3pPr>
            <a:lvl4pPr lvl="3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4pPr>
            <a:lvl5pPr lvl="4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5pPr>
            <a:lvl6pPr lvl="5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6pPr>
            <a:lvl7pPr lvl="6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7pPr>
            <a:lvl8pPr lvl="7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8pPr>
            <a:lvl9pPr lvl="8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1945600" y="-800"/>
            <a:ext cx="21945600" cy="329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87600" tIns="487600" rIns="487600" bIns="487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1274400" y="7892320"/>
            <a:ext cx="19416900" cy="94866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1274400" y="17939680"/>
            <a:ext cx="19416900" cy="79047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23709600" y="4634080"/>
            <a:ext cx="18417600" cy="236487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marL="914400" lvl="1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2pPr>
            <a:lvl3pPr marL="1371600" lvl="2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3pPr>
            <a:lvl4pPr marL="1828800" lvl="3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4pPr>
            <a:lvl5pPr marL="2286000" lvl="4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5pPr>
            <a:lvl6pPr marL="2743200" lvl="5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6pPr>
            <a:lvl7pPr marL="3200400" lvl="6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7pPr>
            <a:lvl8pPr marL="3657600" lvl="7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8pPr>
            <a:lvl9pPr marL="4114800" lvl="8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496160" y="27075680"/>
            <a:ext cx="28794300" cy="38727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496160" y="7079200"/>
            <a:ext cx="40899000" cy="125664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1496160" y="20174240"/>
            <a:ext cx="40899000" cy="83250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 algn="ctr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marL="914400" lvl="1" indent="-702733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2pPr>
            <a:lvl3pPr marL="1371600" lvl="2" indent="-702733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3pPr>
            <a:lvl4pPr marL="1828800" lvl="3" indent="-702733" algn="ctr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4pPr>
            <a:lvl5pPr marL="2286000" lvl="4" indent="-702733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5pPr>
            <a:lvl6pPr marL="2743200" lvl="5" indent="-702733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6pPr>
            <a:lvl7pPr marL="3200400" lvl="6" indent="-702733" algn="ctr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7pPr>
            <a:lvl8pPr marL="3657600" lvl="7" indent="-702733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8pPr>
            <a:lvl9pPr marL="4114800" lvl="8" indent="-702733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Char char="●"/>
              <a:defRPr sz="9600">
                <a:solidFill>
                  <a:schemeClr val="dk2"/>
                </a:solidFill>
              </a:defRPr>
            </a:lvl1pPr>
            <a:lvl2pPr marL="914400" lvl="1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6">
                <a:solidFill>
                  <a:schemeClr val="dk2"/>
                </a:solidFill>
              </a:defRPr>
            </a:lvl2pPr>
            <a:lvl3pPr marL="1371600" lvl="2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6">
                <a:solidFill>
                  <a:schemeClr val="dk2"/>
                </a:solidFill>
              </a:defRPr>
            </a:lvl3pPr>
            <a:lvl4pPr marL="1828800" lvl="3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●"/>
              <a:defRPr sz="7466">
                <a:solidFill>
                  <a:schemeClr val="dk2"/>
                </a:solidFill>
              </a:defRPr>
            </a:lvl4pPr>
            <a:lvl5pPr marL="2286000" lvl="4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6">
                <a:solidFill>
                  <a:schemeClr val="dk2"/>
                </a:solidFill>
              </a:defRPr>
            </a:lvl5pPr>
            <a:lvl6pPr marL="2743200" lvl="5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6">
                <a:solidFill>
                  <a:schemeClr val="dk2"/>
                </a:solidFill>
              </a:defRPr>
            </a:lvl6pPr>
            <a:lvl7pPr marL="3200400" lvl="6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●"/>
              <a:defRPr sz="7466">
                <a:solidFill>
                  <a:schemeClr val="dk2"/>
                </a:solidFill>
              </a:defRPr>
            </a:lvl7pPr>
            <a:lvl8pPr marL="3657600" lvl="7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6">
                <a:solidFill>
                  <a:schemeClr val="dk2"/>
                </a:solidFill>
              </a:defRPr>
            </a:lvl8pPr>
            <a:lvl9pPr marL="4114800" lvl="8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6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 algn="r">
              <a:buNone/>
              <a:defRPr sz="5333">
                <a:solidFill>
                  <a:schemeClr val="dk2"/>
                </a:solidFill>
              </a:defRPr>
            </a:lvl1pPr>
            <a:lvl2pPr lvl="1" algn="r">
              <a:buNone/>
              <a:defRPr sz="5333">
                <a:solidFill>
                  <a:schemeClr val="dk2"/>
                </a:solidFill>
              </a:defRPr>
            </a:lvl2pPr>
            <a:lvl3pPr lvl="2" algn="r">
              <a:buNone/>
              <a:defRPr sz="5333">
                <a:solidFill>
                  <a:schemeClr val="dk2"/>
                </a:solidFill>
              </a:defRPr>
            </a:lvl3pPr>
            <a:lvl4pPr lvl="3" algn="r">
              <a:buNone/>
              <a:defRPr sz="5333">
                <a:solidFill>
                  <a:schemeClr val="dk2"/>
                </a:solidFill>
              </a:defRPr>
            </a:lvl4pPr>
            <a:lvl5pPr lvl="4" algn="r">
              <a:buNone/>
              <a:defRPr sz="5333">
                <a:solidFill>
                  <a:schemeClr val="dk2"/>
                </a:solidFill>
              </a:defRPr>
            </a:lvl5pPr>
            <a:lvl6pPr lvl="5" algn="r">
              <a:buNone/>
              <a:defRPr sz="5333">
                <a:solidFill>
                  <a:schemeClr val="dk2"/>
                </a:solidFill>
              </a:defRPr>
            </a:lvl6pPr>
            <a:lvl7pPr lvl="6" algn="r">
              <a:buNone/>
              <a:defRPr sz="5333">
                <a:solidFill>
                  <a:schemeClr val="dk2"/>
                </a:solidFill>
              </a:defRPr>
            </a:lvl7pPr>
            <a:lvl8pPr lvl="7" algn="r">
              <a:buNone/>
              <a:defRPr sz="5333">
                <a:solidFill>
                  <a:schemeClr val="dk2"/>
                </a:solidFill>
              </a:defRPr>
            </a:lvl8pPr>
            <a:lvl9pPr lvl="8" algn="r">
              <a:buNone/>
              <a:defRPr sz="5333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FE07E5-4DC1-376B-C043-2AD7F6C3F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207180"/>
              </p:ext>
            </p:extLst>
          </p:nvPr>
        </p:nvGraphicFramePr>
        <p:xfrm>
          <a:off x="29675141" y="6709920"/>
          <a:ext cx="11429568" cy="23228065"/>
        </p:xfrm>
        <a:graphic>
          <a:graphicData uri="http://schemas.openxmlformats.org/drawingml/2006/table">
            <a:tbl>
              <a:tblPr/>
              <a:tblGrid>
                <a:gridCol w="11429568">
                  <a:extLst>
                    <a:ext uri="{9D8B030D-6E8A-4147-A177-3AD203B41FA5}">
                      <a16:colId xmlns:a16="http://schemas.microsoft.com/office/drawing/2014/main" val="2659221207"/>
                    </a:ext>
                  </a:extLst>
                </a:gridCol>
              </a:tblGrid>
              <a:tr h="23228065">
                <a:tc>
                  <a:txBody>
                    <a:bodyPr/>
                    <a:lstStyle/>
                    <a:p>
                      <a:pPr algn="ctr"/>
                      <a:r>
                        <a:rPr lang="en-US" sz="2800" b="1" u="sng" dirty="0"/>
                        <a:t>Example Input and Output</a:t>
                      </a:r>
                    </a:p>
                    <a:p>
                      <a:pPr algn="l"/>
                      <a:r>
                        <a:rPr lang="en-US" sz="2800" dirty="0"/>
                        <a:t>Input Prompt: </a:t>
                      </a:r>
                      <a:r>
                        <a:rPr lang="en-US" sz="2800" b="1" dirty="0"/>
                        <a:t>Write a Python function that calculates the GC content given a DNA sequence.</a:t>
                      </a:r>
                    </a:p>
                    <a:p>
                      <a:pPr algn="l"/>
                      <a:endParaRPr lang="en-US" sz="2800" b="1" dirty="0"/>
                    </a:p>
                    <a:p>
                      <a:pPr algn="l"/>
                      <a:r>
                        <a:rPr lang="en-US" sz="2800" b="0" dirty="0"/>
                        <a:t>Produced Output:</a:t>
                      </a:r>
                    </a:p>
                    <a:p>
                      <a:pPr rtl="0" fontAlgn="t">
                        <a:buNone/>
                      </a:pPr>
                      <a:endParaRPr lang="en-US" sz="1100" b="1" i="0" u="none" strike="noStrike" dirty="0">
                        <a:solidFill>
                          <a:srgbClr val="00193A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US" sz="2600" b="1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def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600" b="1" i="0" u="none" strike="noStrike" dirty="0" err="1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gc_content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(seq):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"""</a:t>
                      </a:r>
                      <a:b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    A function that calculates the GC content given a DNA sequence.</a:t>
                      </a:r>
                      <a:b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    """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600" b="0" i="0" u="none" strike="noStrike" dirty="0">
                          <a:solidFill>
                            <a:srgbClr val="738191"/>
                          </a:solidFill>
                          <a:effectLst/>
                          <a:latin typeface="Consolas" panose="020B0609020204030204" pitchFamily="49" charset="0"/>
                        </a:rPr>
                        <a:t># START_OF_FUNCTION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    count = 0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600" b="1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600" b="0" i="0" u="none" strike="noStrike" dirty="0" err="1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600" b="1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in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seq: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2600" b="1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600" b="0" i="0" u="none" strike="noStrike" dirty="0" err="1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== 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"G"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600" b="1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or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600" b="0" i="0" u="none" strike="noStrike" dirty="0" err="1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== 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"C"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count += 1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600" b="1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count / </a:t>
                      </a:r>
                      <a:r>
                        <a:rPr lang="en-US" sz="2600" b="0" i="0" u="none" strike="noStrike" dirty="0" err="1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len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(seq) * 100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738191"/>
                          </a:solidFill>
                          <a:effectLst/>
                          <a:latin typeface="Consolas" panose="020B0609020204030204" pitchFamily="49" charset="0"/>
                        </a:rPr>
                        <a:t># End the function after implementation with marker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738191"/>
                          </a:solidFill>
                          <a:effectLst/>
                          <a:latin typeface="Consolas" panose="020B0609020204030204" pitchFamily="49" charset="0"/>
                        </a:rPr>
                        <a:t># END_OF_FUNCTION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738191"/>
                          </a:solidFill>
                          <a:effectLst/>
                          <a:latin typeface="Consolas" panose="020B0609020204030204" pitchFamily="49" charset="0"/>
                        </a:rPr>
                        <a:t># Example DNA sequences to test the function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dna1 = 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"ATGCGC"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dna2 = 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"ATATAT"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dna3 = 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"GGCCGGCC"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738191"/>
                          </a:solidFill>
                          <a:effectLst/>
                          <a:latin typeface="Consolas" panose="020B0609020204030204" pitchFamily="49" charset="0"/>
                        </a:rPr>
                        <a:t># Test the function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print(</a:t>
                      </a:r>
                      <a:r>
                        <a:rPr lang="en-US" sz="2600" b="0" i="0" u="none" strike="noStrike" dirty="0" err="1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f"GC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 content of </a:t>
                      </a:r>
                      <a:r>
                        <a:rPr lang="en-US" sz="2600" b="0" i="0" u="none" strike="noStrike" dirty="0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{dna1}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en-US" sz="2600" b="0" i="0" u="none" strike="noStrike" dirty="0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sz="2600" b="0" i="0" u="none" strike="noStrike" dirty="0" err="1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gc_content</a:t>
                      </a:r>
                      <a:r>
                        <a:rPr lang="en-US" sz="2600" b="0" i="0" u="none" strike="noStrike" dirty="0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(dna1):.2f}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%"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print(</a:t>
                      </a:r>
                      <a:r>
                        <a:rPr lang="en-US" sz="2600" b="0" i="0" u="none" strike="noStrike" dirty="0" err="1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f"GC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 content of </a:t>
                      </a:r>
                      <a:r>
                        <a:rPr lang="en-US" sz="2600" b="0" i="0" u="none" strike="noStrike" dirty="0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{dna2}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en-US" sz="2600" b="0" i="0" u="none" strike="noStrike" dirty="0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sz="2600" b="0" i="0" u="none" strike="noStrike" dirty="0" err="1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gc_content</a:t>
                      </a:r>
                      <a:r>
                        <a:rPr lang="en-US" sz="2600" b="0" i="0" u="none" strike="noStrike" dirty="0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(dna2):.2f}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%"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print(</a:t>
                      </a:r>
                      <a:r>
                        <a:rPr lang="en-US" sz="2600" b="0" i="0" u="none" strike="noStrike" dirty="0" err="1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f"GC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 content of </a:t>
                      </a:r>
                      <a:r>
                        <a:rPr lang="en-US" sz="2600" b="0" i="0" u="none" strike="noStrike" dirty="0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{dna3}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en-US" sz="2600" b="0" i="0" u="none" strike="noStrike" dirty="0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sz="2600" b="0" i="0" u="none" strike="noStrike" dirty="0" err="1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gc_content</a:t>
                      </a:r>
                      <a:r>
                        <a:rPr lang="en-US" sz="2600" b="0" i="0" u="none" strike="noStrike" dirty="0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(dna3):.2f}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%"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rtl="0" fontAlgn="t">
                        <a:buNone/>
                      </a:pPr>
                      <a:endParaRPr lang="en-US" sz="1100" b="0" i="0" u="none" strike="noStrike" dirty="0">
                        <a:solidFill>
                          <a:srgbClr val="00193A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2800" dirty="0"/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800" dirty="0"/>
                        <a:t>OUTPUT: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800" dirty="0"/>
                        <a:t>GC content of ATGCGC: 66.67%</a:t>
                      </a:r>
                      <a:br>
                        <a:rPr lang="en-US" sz="2800" dirty="0"/>
                      </a:br>
                      <a:r>
                        <a:rPr lang="en-US" sz="2800" dirty="0"/>
                        <a:t>GC content of ATATAT: 0.00%</a:t>
                      </a:r>
                      <a:br>
                        <a:rPr lang="en-US" sz="2800" dirty="0"/>
                      </a:br>
                      <a:r>
                        <a:rPr lang="en-US" sz="2800" dirty="0"/>
                        <a:t>GC content of GGCCGGCC: 100.00%</a:t>
                      </a:r>
                      <a:endParaRPr lang="en-US" sz="2800" dirty="0">
                        <a:effectLst/>
                      </a:endParaRPr>
                    </a:p>
                  </a:txBody>
                  <a:tcPr marL="63500" marR="63500" marT="63500" marB="635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8245067"/>
                  </a:ext>
                </a:extLst>
              </a:tr>
            </a:tbl>
          </a:graphicData>
        </a:graphic>
      </p:graphicFrame>
      <p:sp>
        <p:nvSpPr>
          <p:cNvPr id="71" name="Google Shape;71;p16"/>
          <p:cNvSpPr txBox="1"/>
          <p:nvPr/>
        </p:nvSpPr>
        <p:spPr>
          <a:xfrm>
            <a:off x="39090592" y="884691"/>
            <a:ext cx="4806600" cy="1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80000"/>
              </a:lnSpc>
              <a:buSzPts val="688"/>
            </a:pPr>
            <a:r>
              <a:rPr lang="en" sz="10000" dirty="0">
                <a:solidFill>
                  <a:schemeClr val="lt1"/>
                </a:solidFill>
                <a:latin typeface="Roboto Condensed ExtraBold"/>
                <a:ea typeface="Roboto Condensed ExtraBold"/>
                <a:cs typeface="Roboto Condensed ExtraBold"/>
              </a:rPr>
              <a:t>26-335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endParaRPr lang="en" sz="10000" dirty="0">
              <a:solidFill>
                <a:schemeClr val="lt1"/>
              </a:solidFill>
              <a:latin typeface="Roboto Condensed ExtraBold"/>
              <a:ea typeface="Roboto Condensed ExtraBold"/>
              <a:cs typeface="Roboto Condensed ExtraBold"/>
            </a:endParaRPr>
          </a:p>
        </p:txBody>
      </p:sp>
      <p:sp>
        <p:nvSpPr>
          <p:cNvPr id="3" name="Google Shape;24;g11a88963fa4_0_0">
            <a:extLst>
              <a:ext uri="{FF2B5EF4-FFF2-40B4-BE49-F238E27FC236}">
                <a16:creationId xmlns:a16="http://schemas.microsoft.com/office/drawing/2014/main" id="{C941C77A-29DC-44D1-B3E6-934B3EF22311}"/>
              </a:ext>
            </a:extLst>
          </p:cNvPr>
          <p:cNvSpPr txBox="1"/>
          <p:nvPr/>
        </p:nvSpPr>
        <p:spPr>
          <a:xfrm>
            <a:off x="957945" y="3409407"/>
            <a:ext cx="43107427" cy="2523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lang="en-US" sz="1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Agents for Bioinformatics</a:t>
            </a: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SzPts val="3600"/>
            </a:pPr>
            <a:r>
              <a:rPr lang="en-US" sz="3600" b="1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Team members: </a:t>
            </a:r>
            <a:r>
              <a:rPr lang="en-US" sz="3600" i="0" u="none" strike="noStrike" cap="none" dirty="0" err="1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Ozi</a:t>
            </a:r>
            <a:r>
              <a:rPr lang="en-US" sz="360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 Jawad, Carter Struck, Mack Hicks, Sona James</a:t>
            </a:r>
            <a:r>
              <a:rPr lang="en-US" sz="3600" b="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  |  </a:t>
            </a:r>
            <a:r>
              <a:rPr lang="en-US" sz="3600" b="1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Faculty adviser: </a:t>
            </a:r>
            <a:r>
              <a:rPr lang="en-US" sz="3600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Tomasz </a:t>
            </a:r>
            <a:r>
              <a:rPr lang="en-US" sz="3600" dirty="0" err="1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Arodz</a:t>
            </a:r>
            <a:r>
              <a:rPr lang="en-US" sz="3600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, Ph.D.</a:t>
            </a:r>
            <a:r>
              <a:rPr lang="en-US" sz="3600" b="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  |  </a:t>
            </a:r>
            <a:r>
              <a:rPr lang="en-US" sz="3600" b="1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Partner: </a:t>
            </a:r>
            <a:r>
              <a:rPr lang="en-US" sz="3600" b="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VCU College of Engineering  |  </a:t>
            </a:r>
            <a:r>
              <a:rPr lang="en-US" sz="3600" b="1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Mentor: </a:t>
            </a:r>
            <a:r>
              <a:rPr lang="en-US" sz="360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Tomasz </a:t>
            </a:r>
            <a:r>
              <a:rPr lang="en-US" sz="3600" i="0" u="none" strike="noStrike" cap="none" dirty="0" err="1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Arodz</a:t>
            </a:r>
            <a:r>
              <a:rPr lang="en-US" sz="360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600" i="0" u="none" strike="noStrike" cap="none" dirty="0" err="1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Ph.D</a:t>
            </a:r>
            <a:r>
              <a:rPr lang="en-US" sz="4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4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C56511-4C4D-531B-5BF2-6B0E17F4A68B}"/>
              </a:ext>
            </a:extLst>
          </p:cNvPr>
          <p:cNvSpPr txBox="1"/>
          <p:nvPr/>
        </p:nvSpPr>
        <p:spPr>
          <a:xfrm>
            <a:off x="1487777" y="6511745"/>
            <a:ext cx="11429568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Objective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Develop a functional multi-agent AI system using open-source large language models (LLMs) capable of processing, coding, and interpreting genomic datasets.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Design and implement an AI-based tool that can automatically generate and execute Python code for bioinformatic tasks.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Deliver accurate and reliable solutions generated by the AI system.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Reduce time required to process and interpret data by 50% compared to traditional bioinformatic workflows.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FFED9C-0D6A-AF0D-00C8-0F6D0489D213}"/>
              </a:ext>
            </a:extLst>
          </p:cNvPr>
          <p:cNvSpPr txBox="1"/>
          <p:nvPr/>
        </p:nvSpPr>
        <p:spPr>
          <a:xfrm>
            <a:off x="1487777" y="15320319"/>
            <a:ext cx="11429568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Problem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/>
              <a:t>Bioinformatic </a:t>
            </a:r>
            <a:r>
              <a:rPr lang="en-US" sz="3600" dirty="0"/>
              <a:t>tasks dealing with large datasets are complex and required domain knowledge.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goal of the agent is to simplify this process for non-bioinformaticians working on genomic datasets that often require a bioinformatician to decipher.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To solve this problem, we propose a multi-agent AI system capable of reading genomic data, analyzing it, and producing useful and understandable insights.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0D06EC-5F06-CF91-5ECD-58426E66E0C1}"/>
              </a:ext>
            </a:extLst>
          </p:cNvPr>
          <p:cNvSpPr txBox="1"/>
          <p:nvPr/>
        </p:nvSpPr>
        <p:spPr>
          <a:xfrm>
            <a:off x="15659512" y="6709920"/>
            <a:ext cx="11136086" cy="58169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b="1" dirty="0"/>
              <a:t>Design Constraints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Model must run on NVDIA A100 GPU 40GB.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LLMs parameter sizes limited to 20 Billion.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Open Source, trustworthy LLMs only.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Reasonable completion speed for output.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Agents must debug and produce runnable python code.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Agents must be able to write code to process typical file formats for bioinformatics (FASTA, FASTQ, VCF).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E59F9B-BB0D-15FA-4B88-666400FC6A86}"/>
              </a:ext>
            </a:extLst>
          </p:cNvPr>
          <p:cNvSpPr txBox="1"/>
          <p:nvPr/>
        </p:nvSpPr>
        <p:spPr>
          <a:xfrm>
            <a:off x="15796888" y="14155798"/>
            <a:ext cx="11593286" cy="62478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b="1" dirty="0"/>
              <a:t>Design Choices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One LLM was chosen for both writing and coding agents for current prototyping simplicity.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We chose the LLM, </a:t>
            </a:r>
            <a:r>
              <a:rPr lang="en-US" sz="3600" dirty="0" err="1"/>
              <a:t>StarCoder</a:t>
            </a:r>
            <a:r>
              <a:rPr lang="en-US" sz="3600" dirty="0"/>
              <a:t>, because it is a coding focused model with adequate writing abilities.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Current LLM instructions were written to focus primarily on Python code.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models will write Python code because of the vast amounts of data processing libraries and capabilities to easily work with users input.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330BC0-5C86-85AA-C788-048DE4BC8754}"/>
              </a:ext>
            </a:extLst>
          </p:cNvPr>
          <p:cNvSpPr txBox="1"/>
          <p:nvPr/>
        </p:nvSpPr>
        <p:spPr>
          <a:xfrm>
            <a:off x="8674012" y="21691294"/>
            <a:ext cx="5467676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 dirty="0"/>
              <a:t>Final Design</a:t>
            </a:r>
            <a:endParaRPr lang="en-US" dirty="0"/>
          </a:p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6BF65B-4F0F-B606-7703-CB284326C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6266" y="22898416"/>
            <a:ext cx="24909332" cy="700563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557</Words>
  <Application>Microsoft Office PowerPoint</Application>
  <PresentationFormat>Custom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Roboto Condensed ExtraBold</vt:lpstr>
      <vt:lpstr>Consolas</vt:lpstr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this slide deck template</dc:title>
  <dc:creator>Bradley Nichols</dc:creator>
  <cp:lastModifiedBy>Carter Struck</cp:lastModifiedBy>
  <cp:revision>141</cp:revision>
  <dcterms:modified xsi:type="dcterms:W3CDTF">2026-03-24T21:37:38Z</dcterms:modified>
</cp:coreProperties>
</file>